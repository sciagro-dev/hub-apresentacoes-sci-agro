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embeddedFontLst>
    <p:embeddedFont>
      <p:font typeface="Quattrocento Sans" panose="020B0502050000020003" pitchFamily="34" charset="0"/>
      <p:regular r:id="rId26"/>
    </p:embeddedFont>
    <p:embeddedFont>
      <p:font typeface="Sora" pitchFamily="2" charset="0"/>
      <p:regular r:id="rId27"/>
      <p:bold r:id="rId28"/>
    </p:embeddedFont>
    <p:embeddedFont>
      <p:font typeface="Sora Medium" panose="020B0604020202020204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Fabio Campos" initials="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Google Shape;267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9" name="Google Shape;349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e754ae4d7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g3e754ae4d7d_0_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e754ae4d7d_0_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e754ae4d7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5" name="Google Shape;385;g3e754ae4d7d_0_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e754ae4d7d_0_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2" name="Google Shape;402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0" name="Google Shape;420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7" name="Google Shape;437;p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5" name="Google Shape;455;p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p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2" name="Google Shape;502;p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jpg"/><Relationship Id="rId7" Type="http://schemas.openxmlformats.org/officeDocument/2006/relationships/image" Target="../media/image2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jpg"/><Relationship Id="rId11" Type="http://schemas.openxmlformats.org/officeDocument/2006/relationships/image" Target="../media/image28.jpg"/><Relationship Id="rId5" Type="http://schemas.openxmlformats.org/officeDocument/2006/relationships/image" Target="../media/image22.jpg"/><Relationship Id="rId10" Type="http://schemas.openxmlformats.org/officeDocument/2006/relationships/image" Target="../media/image27.png"/><Relationship Id="rId4" Type="http://schemas.openxmlformats.org/officeDocument/2006/relationships/image" Target="../media/image21.jpg"/><Relationship Id="rId9" Type="http://schemas.openxmlformats.org/officeDocument/2006/relationships/image" Target="../media/image26.png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jpg"/><Relationship Id="rId5" Type="http://schemas.openxmlformats.org/officeDocument/2006/relationships/image" Target="../media/image30.jpg"/><Relationship Id="rId4" Type="http://schemas.openxmlformats.org/officeDocument/2006/relationships/image" Target="../media/image2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jpg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jpg"/><Relationship Id="rId5" Type="http://schemas.openxmlformats.org/officeDocument/2006/relationships/image" Target="../media/image36.jp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jpg"/><Relationship Id="rId5" Type="http://schemas.openxmlformats.org/officeDocument/2006/relationships/image" Target="../media/image40.jpg"/><Relationship Id="rId4" Type="http://schemas.openxmlformats.org/officeDocument/2006/relationships/image" Target="../media/image39.jpg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jp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45.jp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7.jpg"/><Relationship Id="rId4" Type="http://schemas.openxmlformats.org/officeDocument/2006/relationships/image" Target="../media/image4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jpg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49.jpg"/><Relationship Id="rId7" Type="http://schemas.openxmlformats.org/officeDocument/2006/relationships/image" Target="../media/image5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50.jpg"/></Relationships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jpg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5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jpg"/><Relationship Id="rId5" Type="http://schemas.openxmlformats.org/officeDocument/2006/relationships/image" Target="../media/image53.jp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jpg"/></Relationships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jpg"/><Relationship Id="rId5" Type="http://schemas.openxmlformats.org/officeDocument/2006/relationships/image" Target="../media/image57.jpg"/><Relationship Id="rId4" Type="http://schemas.openxmlformats.org/officeDocument/2006/relationships/image" Target="../media/image12.png"/></Relationships>
</file>

<file path=ppt/slides/_rels/slide19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jpg"/></Relationships>
</file>

<file path=ppt/slides/_rels/slide20.xml.rels><?xml version="1.0" encoding="UTF-8" standalone="yes"?>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jp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21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jpg"/><Relationship Id="rId4" Type="http://schemas.openxmlformats.org/officeDocument/2006/relationships/image" Target="../media/image62.jpg"/></Relationships>
</file>

<file path=ppt/slides/_rels/slide22.xml.rels><?xml version="1.0" encoding="UTF-8" standalone="yes"?>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6.jp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67.jpg"/></Relationships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g"/><Relationship Id="rId5" Type="http://schemas.openxmlformats.org/officeDocument/2006/relationships/image" Target="../media/image71.jpg"/><Relationship Id="rId4" Type="http://schemas.openxmlformats.org/officeDocument/2006/relationships/image" Target="../media/image7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A43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A43"/>
          </a:solidFill>
          <a:ln w="12700" cap="flat" cmpd="sng">
            <a:solidFill>
              <a:srgbClr val="333333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062A43"/>
          </a:solidFill>
          <a:ln w="12700" cap="flat" cmpd="sng">
            <a:solidFill>
              <a:srgbClr val="333333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" name="Google Shape;14;p3"/>
          <p:cNvCxnSpPr/>
          <p:nvPr/>
        </p:nvCxnSpPr>
        <p:spPr>
          <a:xfrm>
            <a:off x="3930825" y="0"/>
            <a:ext cx="0" cy="6858000"/>
          </a:xfrm>
          <a:prstGeom prst="straightConnector1">
            <a:avLst/>
          </a:prstGeom>
          <a:noFill/>
          <a:ln w="254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5" name="Google Shape;15;p3" descr="/mnt/data/Logo-Sci-Reduzida-Colorida-PN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103" y="453380"/>
            <a:ext cx="1982123" cy="1000311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566928" y="2304288"/>
            <a:ext cx="1344168" cy="292608"/>
          </a:xfrm>
          <a:prstGeom prst="roundRect">
            <a:avLst>
              <a:gd name="adj" fmla="val 25000"/>
            </a:avLst>
          </a:prstGeom>
          <a:solidFill>
            <a:srgbClr val="8CC63F"/>
          </a:solidFill>
          <a:ln w="12700" cap="flat" cmpd="sng">
            <a:solidFill>
              <a:srgbClr val="333333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30150" y="2350008"/>
            <a:ext cx="121615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2A43"/>
              </a:buClr>
              <a:buSzPts val="1200"/>
              <a:buFont typeface="Sora"/>
              <a:buNone/>
            </a:pPr>
            <a:r>
              <a:rPr lang="en-US" sz="1200" b="1" i="0" u="none" strike="noStrike" cap="none">
                <a:solidFill>
                  <a:srgbClr val="062A43"/>
                </a:solidFill>
                <a:latin typeface="Sora"/>
                <a:ea typeface="Sora"/>
                <a:cs typeface="Sora"/>
                <a:sym typeface="Sora"/>
              </a:rPr>
              <a:t>COMMERCIAL</a:t>
            </a:r>
            <a:endParaRPr sz="1200" b="0" i="0" u="none" strike="noStrike" cap="non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2743200"/>
            <a:ext cx="297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Sora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SCI-AGRO</a:t>
            </a:r>
            <a:endParaRPr sz="2900" b="0" i="0" u="none" strike="noStrike" cap="non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Sora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Presentation</a:t>
            </a:r>
            <a:endParaRPr sz="2900" b="0" i="0" u="none" strike="noStrike" cap="non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9" name="Google Shape;19;p3"/>
          <p:cNvCxnSpPr/>
          <p:nvPr/>
        </p:nvCxnSpPr>
        <p:spPr>
          <a:xfrm>
            <a:off x="566928" y="4133088"/>
            <a:ext cx="640080" cy="0"/>
          </a:xfrm>
          <a:prstGeom prst="straightConnector1">
            <a:avLst/>
          </a:prstGeom>
          <a:noFill/>
          <a:ln w="27925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" name="Google Shape;20;p3"/>
          <p:cNvSpPr/>
          <p:nvPr/>
        </p:nvSpPr>
        <p:spPr>
          <a:xfrm>
            <a:off x="566928" y="4370832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1040"/>
              <a:buFont typeface="Sora"/>
              <a:buNone/>
            </a:pPr>
            <a:r>
              <a:rPr lang="en-US" sz="1040" b="0" i="0" u="none" strike="noStrike" cap="none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Your product.</a:t>
            </a:r>
            <a:endParaRPr sz="1040" b="0" i="0" u="none" strike="noStrike" cap="non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1040"/>
              <a:buFont typeface="Sora"/>
              <a:buNone/>
            </a:pPr>
            <a:r>
              <a:rPr lang="en-US" sz="1040" b="0" i="0" u="none" strike="noStrike" cap="none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Our responsibility.</a:t>
            </a:r>
            <a:endParaRPr sz="1040" b="0" i="0" u="none" strike="noStrike" cap="non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66928" y="623620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C0D8"/>
              </a:buClr>
              <a:buSzPts val="620"/>
              <a:buFont typeface="Sora"/>
              <a:buNone/>
            </a:pPr>
            <a:r>
              <a:rPr lang="en-US" sz="620" b="1" i="0" u="none" strike="noStrike" cap="none">
                <a:solidFill>
                  <a:srgbClr val="9FC0D8"/>
                </a:solidFill>
                <a:latin typeface="Sora"/>
                <a:ea typeface="Sora"/>
                <a:cs typeface="Sora"/>
                <a:sym typeface="Sora"/>
              </a:rPr>
              <a:t>SCI-AGRO • A GLP Laboratory</a:t>
            </a:r>
            <a:endParaRPr sz="620" b="0" i="0" u="none" strike="noStrike" cap="non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22" name="Google Shape;22;p3" title="bH87J3JaJf01JPO770Es.jpg"/>
          <p:cNvPicPr preferRelativeResize="0"/>
          <p:nvPr/>
        </p:nvPicPr>
        <p:blipFill rotWithShape="1">
          <a:blip r:embed="rId4">
            <a:alphaModFix/>
          </a:blip>
          <a:srcRect l="32240"/>
          <a:stretch/>
        </p:blipFill>
        <p:spPr>
          <a:xfrm>
            <a:off x="3930825" y="0"/>
            <a:ext cx="8261176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 descr="/mnt/data/Logo-Sci-Reduzida-Colorida-PN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7004" y="256032"/>
            <a:ext cx="1159609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2500"/>
              <a:buFont typeface="Sora"/>
              <a:buNone/>
            </a:pPr>
            <a:r>
              <a:rPr lang="en-US" sz="2500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Who we are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8498"/>
              </a:buClr>
              <a:buSzPts val="1050"/>
              <a:buFont typeface="Sora"/>
              <a:buNone/>
            </a:pPr>
            <a:r>
              <a:rPr lang="en-US" sz="1120" b="1">
                <a:solidFill>
                  <a:srgbClr val="6F8498"/>
                </a:solidFill>
                <a:latin typeface="Sora"/>
                <a:ea typeface="Sora"/>
                <a:cs typeface="Sora"/>
                <a:sym typeface="Sora"/>
              </a:rPr>
              <a:t>KNOWLEDGE APPLIED TO THE SAFE DEVELOPMENT OF AGRICULTURE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31" name="Google Shape;31;p4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w="254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4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0AF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8EA0AF"/>
                </a:solidFill>
                <a:latin typeface="Sora"/>
                <a:ea typeface="Sora"/>
                <a:cs typeface="Sora"/>
                <a:sym typeface="Sora"/>
              </a:rPr>
              <a:t>SCI-AGRO  •  Commercial Presentation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33" name="Google Shape;33;p4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w="203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" name="Google Shape;34;p4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600"/>
              <a:buFont typeface="Sora"/>
              <a:buNone/>
            </a:pPr>
            <a:r>
              <a:rPr lang="en-US" sz="600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02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02990" y="1645890"/>
            <a:ext cx="6355200" cy="1170300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" name="Google Shape;36;p4"/>
          <p:cNvGrpSpPr/>
          <p:nvPr/>
        </p:nvGrpSpPr>
        <p:grpSpPr>
          <a:xfrm>
            <a:off x="1371675" y="1895610"/>
            <a:ext cx="5349309" cy="670860"/>
            <a:chOff x="1417325" y="1773225"/>
            <a:chExt cx="5349309" cy="670860"/>
          </a:xfrm>
        </p:grpSpPr>
        <p:sp>
          <p:nvSpPr>
            <p:cNvPr id="37" name="Google Shape;37;p4"/>
            <p:cNvSpPr/>
            <p:nvPr/>
          </p:nvSpPr>
          <p:spPr>
            <a:xfrm>
              <a:off x="1417325" y="1773225"/>
              <a:ext cx="41730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5" tIns="375" rIns="375" bIns="3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54A6"/>
                </a:buClr>
                <a:buSzPts val="1100"/>
                <a:buFont typeface="Sora"/>
                <a:buNone/>
              </a:pPr>
              <a:r>
                <a:rPr lang="en-US" sz="1300" b="1">
                  <a:solidFill>
                    <a:srgbClr val="0054A6"/>
                  </a:solidFill>
                  <a:latin typeface="Sora"/>
                  <a:ea typeface="Sora"/>
                  <a:cs typeface="Sora"/>
                  <a:sym typeface="Sora"/>
                </a:rPr>
                <a:t>The sponsor is our priority</a:t>
              </a:r>
              <a:endParaRPr sz="13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1417334" y="2096685"/>
              <a:ext cx="53493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5" tIns="375" rIns="375" bIns="3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E7185"/>
                </a:buClr>
                <a:buSzPts val="939"/>
                <a:buFont typeface="Sora"/>
                <a:buNone/>
              </a:pPr>
              <a:r>
                <a:rPr lang="en-US" sz="1140">
                  <a:solidFill>
                    <a:srgbClr val="5E7185"/>
                  </a:solidFill>
                  <a:latin typeface="Sora"/>
                  <a:ea typeface="Sora"/>
                  <a:cs typeface="Sora"/>
                  <a:sym typeface="Sora"/>
                </a:rPr>
                <a:t>Focus on partnership, responsive technical contact and compliance with agreed deadlines.</a:t>
              </a:r>
              <a:endParaRPr sz="114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9" name="Google Shape;39;p4"/>
          <p:cNvSpPr/>
          <p:nvPr/>
        </p:nvSpPr>
        <p:spPr>
          <a:xfrm>
            <a:off x="704156" y="2011590"/>
            <a:ext cx="438900" cy="438900"/>
          </a:xfrm>
          <a:prstGeom prst="ellipse">
            <a:avLst/>
          </a:prstGeom>
          <a:solidFill>
            <a:srgbClr val="EEF7E5"/>
          </a:solidFill>
          <a:ln w="12700" cap="flat" cmpd="sng">
            <a:solidFill>
              <a:srgbClr val="EEF7E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503000" y="3035775"/>
            <a:ext cx="3063300" cy="984900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704158" y="3276825"/>
            <a:ext cx="502800" cy="502800"/>
          </a:xfrm>
          <a:prstGeom prst="ellipse">
            <a:avLst/>
          </a:prstGeom>
          <a:solidFill>
            <a:srgbClr val="EAF2F7"/>
          </a:solidFill>
          <a:ln w="12700" cap="flat" cmpd="sng">
            <a:solidFill>
              <a:srgbClr val="EAF2F7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1371670" y="3336225"/>
            <a:ext cx="18744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939"/>
              <a:buFont typeface="Sora"/>
              <a:buNone/>
            </a:pPr>
            <a:r>
              <a:rPr lang="en-US" sz="1340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Initial GLP recognition in March 2019.</a:t>
            </a:r>
            <a:endParaRPr sz="1340">
              <a:solidFill>
                <a:srgbClr val="0054A6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794825" y="3035775"/>
            <a:ext cx="3063300" cy="984900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3995998" y="3276765"/>
            <a:ext cx="502800" cy="502800"/>
          </a:xfrm>
          <a:prstGeom prst="ellipse">
            <a:avLst/>
          </a:prstGeom>
          <a:solidFill>
            <a:srgbClr val="EEF7E5"/>
          </a:solidFill>
          <a:ln w="12700" cap="flat" cmpd="sng">
            <a:solidFill>
              <a:srgbClr val="EEF7E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3995998" y="3285909"/>
            <a:ext cx="5028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CC63F"/>
              </a:buClr>
              <a:buSzPts val="1400"/>
              <a:buFont typeface="Quattrocento Sans"/>
              <a:buNone/>
            </a:pPr>
            <a:endParaRPr sz="14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672650" y="3163725"/>
            <a:ext cx="1874400" cy="7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869"/>
              <a:buFont typeface="Sora"/>
              <a:buNone/>
            </a:pPr>
            <a:r>
              <a:rPr lang="en-US" sz="1300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A team of more than 130 specialized professionals.</a:t>
            </a:r>
            <a:endParaRPr sz="1300">
              <a:solidFill>
                <a:srgbClr val="0054A6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02927" y="4240116"/>
            <a:ext cx="6355200" cy="1170300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704158" y="4605810"/>
            <a:ext cx="438900" cy="438900"/>
          </a:xfrm>
          <a:prstGeom prst="ellipse">
            <a:avLst/>
          </a:prstGeom>
          <a:solidFill>
            <a:srgbClr val="EAF2F7"/>
          </a:solidFill>
          <a:ln w="12700" cap="flat" cmpd="sng">
            <a:solidFill>
              <a:srgbClr val="EAF2F7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704096" y="4614966"/>
            <a:ext cx="4389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1400"/>
              <a:buFont typeface="Quattrocento Sans"/>
              <a:buNone/>
            </a:pPr>
            <a:endParaRPr sz="14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0" name="Google Shape;50;p4"/>
          <p:cNvGrpSpPr/>
          <p:nvPr/>
        </p:nvGrpSpPr>
        <p:grpSpPr>
          <a:xfrm>
            <a:off x="1280168" y="4464018"/>
            <a:ext cx="4846200" cy="722496"/>
            <a:chOff x="1325818" y="4212714"/>
            <a:chExt cx="4846200" cy="722496"/>
          </a:xfrm>
        </p:grpSpPr>
        <p:sp>
          <p:nvSpPr>
            <p:cNvPr id="51" name="Google Shape;51;p4"/>
            <p:cNvSpPr/>
            <p:nvPr/>
          </p:nvSpPr>
          <p:spPr>
            <a:xfrm>
              <a:off x="1325817" y="4212714"/>
              <a:ext cx="2743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5" tIns="375" rIns="375" bIns="3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54A6"/>
                </a:buClr>
                <a:buSzPts val="1100"/>
                <a:buFont typeface="Sora"/>
                <a:buNone/>
              </a:pPr>
              <a:r>
                <a:rPr lang="en-US" sz="1300" b="1">
                  <a:solidFill>
                    <a:srgbClr val="0054A6"/>
                  </a:solidFill>
                  <a:latin typeface="Sora"/>
                  <a:ea typeface="Sora"/>
                  <a:cs typeface="Sora"/>
                  <a:sym typeface="Sora"/>
                </a:rPr>
                <a:t>High scientific quality</a:t>
              </a:r>
              <a:endParaRPr sz="13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1325818" y="4523610"/>
              <a:ext cx="48462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5" tIns="375" rIns="375" bIns="3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E7185"/>
                </a:buClr>
                <a:buSzPts val="930"/>
                <a:buFont typeface="Sora"/>
                <a:buNone/>
              </a:pPr>
              <a:r>
                <a:rPr lang="en-US" sz="1130">
                  <a:solidFill>
                    <a:srgbClr val="5E7185"/>
                  </a:solidFill>
                  <a:latin typeface="Sora"/>
                  <a:ea typeface="Sora"/>
                  <a:cs typeface="Sora"/>
                  <a:sym typeface="Sora"/>
                </a:rPr>
                <a:t>Applied scientific research based on test guidelines, including specific demands that are uncommon in registration packages.</a:t>
              </a:r>
              <a:endParaRPr sz="113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pic>
        <p:nvPicPr>
          <p:cNvPr id="53" name="Google Shape;53;p4"/>
          <p:cNvPicPr preferRelativeResize="0"/>
          <p:nvPr/>
        </p:nvPicPr>
        <p:blipFill rotWithShape="1">
          <a:blip r:embed="rId4">
            <a:alphaModFix/>
          </a:blip>
          <a:srcRect l="-9510" r="9510"/>
          <a:stretch/>
        </p:blipFill>
        <p:spPr>
          <a:xfrm>
            <a:off x="786775" y="2094202"/>
            <a:ext cx="273676" cy="273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4" title="Ativo 2@2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778" y="3354489"/>
            <a:ext cx="347674" cy="347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4" title="group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64588" y="3345351"/>
            <a:ext cx="365750" cy="36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4339" y="4696053"/>
            <a:ext cx="258427" cy="25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4" title="IMG_6092.jpg"/>
          <p:cNvPicPr preferRelativeResize="0"/>
          <p:nvPr/>
        </p:nvPicPr>
        <p:blipFill rotWithShape="1">
          <a:blip r:embed="rId8">
            <a:alphaModFix/>
          </a:blip>
          <a:srcRect l="16599" r="9790"/>
          <a:stretch/>
        </p:blipFill>
        <p:spPr>
          <a:xfrm>
            <a:off x="7056251" y="1139950"/>
            <a:ext cx="4846200" cy="4937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A4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62A43"/>
          </a:solidFill>
          <a:ln w="12700" cap="flat" cmpd="sng">
            <a:solidFill>
              <a:srgbClr val="333333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Sora"/>
              <a:buNone/>
            </a:pPr>
            <a:r>
              <a:rPr lang="en-US" sz="2500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Facilities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620"/>
              <a:buFont typeface="Sora"/>
              <a:buNone/>
            </a:pPr>
            <a:r>
              <a:rPr lang="en-US" sz="1120" b="1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TEST FACILITY LOCATED IN CHARQUEADA/SP, BRAZIL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66" name="Google Shape;66;p5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w="254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7" name="Google Shape;67;p5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A8C0D6"/>
                </a:solidFill>
                <a:latin typeface="Sora"/>
                <a:ea typeface="Sora"/>
                <a:cs typeface="Sora"/>
                <a:sym typeface="Sora"/>
              </a:rPr>
              <a:t>SCI-AGRO  •  Commercial Presentation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68" name="Google Shape;68;p5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w="203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Google Shape;69;p5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Sora"/>
              <a:buNone/>
            </a:pPr>
            <a:r>
              <a:rPr lang="en-US" sz="600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03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055775" y="1572775"/>
            <a:ext cx="2614200" cy="1178700"/>
          </a:xfrm>
          <a:prstGeom prst="roundRect">
            <a:avLst>
              <a:gd name="adj" fmla="val 5806"/>
            </a:avLst>
          </a:prstGeom>
          <a:solidFill>
            <a:srgbClr val="163D5A"/>
          </a:solidFill>
          <a:ln w="12700" cap="flat" cmpd="sng">
            <a:solidFill>
              <a:srgbClr val="2858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" name="Google Shape;71;p5"/>
          <p:cNvGrpSpPr/>
          <p:nvPr/>
        </p:nvGrpSpPr>
        <p:grpSpPr>
          <a:xfrm>
            <a:off x="6757375" y="1760670"/>
            <a:ext cx="1792500" cy="872160"/>
            <a:chOff x="6757375" y="1724780"/>
            <a:chExt cx="1792500" cy="872160"/>
          </a:xfrm>
        </p:grpSpPr>
        <p:sp>
          <p:nvSpPr>
            <p:cNvPr id="72" name="Google Shape;72;p5"/>
            <p:cNvSpPr/>
            <p:nvPr/>
          </p:nvSpPr>
          <p:spPr>
            <a:xfrm>
              <a:off x="6757380" y="1724780"/>
              <a:ext cx="8688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5" tIns="375" rIns="375" bIns="375" anchor="ctr" anchorCtr="0">
              <a:no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60"/>
                <a:buFont typeface="Sora"/>
                <a:buNone/>
              </a:pPr>
              <a:r>
                <a:rPr lang="en-US" sz="1360" b="1">
                  <a:solidFill>
                    <a:srgbClr val="FFFFFF"/>
                  </a:solidFill>
                  <a:latin typeface="Sora"/>
                  <a:ea typeface="Sora"/>
                  <a:cs typeface="Sora"/>
                  <a:sym typeface="Sora"/>
                </a:rPr>
                <a:t>11,000 m²</a:t>
              </a:r>
              <a:endParaRPr sz="136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6757375" y="1911140"/>
              <a:ext cx="17925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5" tIns="375" rIns="375" bIns="3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D5E7"/>
                </a:buClr>
                <a:buSzPts val="760"/>
                <a:buFont typeface="Sora"/>
                <a:buNone/>
              </a:pPr>
              <a:r>
                <a:rPr lang="en-US" sz="1200">
                  <a:solidFill>
                    <a:srgbClr val="BFD5E7"/>
                  </a:solidFill>
                  <a:latin typeface="Sora"/>
                  <a:ea typeface="Sora"/>
                  <a:cs typeface="Sora"/>
                  <a:sym typeface="Sora"/>
                </a:rPr>
                <a:t>of area supporting studies and laboratory routines.</a:t>
              </a:r>
              <a:endParaRPr sz="12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4" name="Google Shape;74;p5"/>
          <p:cNvSpPr/>
          <p:nvPr/>
        </p:nvSpPr>
        <p:spPr>
          <a:xfrm>
            <a:off x="8869675" y="1572775"/>
            <a:ext cx="2779800" cy="1204500"/>
          </a:xfrm>
          <a:prstGeom prst="roundRect">
            <a:avLst>
              <a:gd name="adj" fmla="val 5806"/>
            </a:avLst>
          </a:prstGeom>
          <a:solidFill>
            <a:srgbClr val="163D5A"/>
          </a:solidFill>
          <a:ln w="12700" cap="flat" cmpd="sng">
            <a:solidFill>
              <a:srgbClr val="2858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" name="Google Shape;75;p5"/>
          <p:cNvGrpSpPr/>
          <p:nvPr/>
        </p:nvGrpSpPr>
        <p:grpSpPr>
          <a:xfrm>
            <a:off x="9564371" y="1760663"/>
            <a:ext cx="1792503" cy="828725"/>
            <a:chOff x="9564371" y="1646359"/>
            <a:chExt cx="1792503" cy="828725"/>
          </a:xfrm>
        </p:grpSpPr>
        <p:sp>
          <p:nvSpPr>
            <p:cNvPr id="76" name="Google Shape;76;p5"/>
            <p:cNvSpPr/>
            <p:nvPr/>
          </p:nvSpPr>
          <p:spPr>
            <a:xfrm>
              <a:off x="9564371" y="1646359"/>
              <a:ext cx="20574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5" tIns="375" rIns="375" bIns="375" anchor="ctr" anchorCtr="0">
              <a:no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47"/>
                <a:buFont typeface="Sora"/>
                <a:buNone/>
              </a:pPr>
              <a:r>
                <a:rPr lang="en-US" sz="1300" b="1">
                  <a:solidFill>
                    <a:srgbClr val="FFFFFF"/>
                  </a:solidFill>
                  <a:latin typeface="Sora"/>
                  <a:ea typeface="Sora"/>
                  <a:cs typeface="Sora"/>
                  <a:sym typeface="Sora"/>
                </a:rPr>
                <a:t>Continuous expansion</a:t>
              </a:r>
              <a:endParaRPr sz="1347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9564374" y="1999584"/>
              <a:ext cx="17925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5" tIns="375" rIns="375" bIns="3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BFD5E7"/>
                </a:buClr>
                <a:buSzPts val="760"/>
                <a:buFont typeface="Sora"/>
                <a:buNone/>
              </a:pPr>
              <a:r>
                <a:rPr lang="en-US" sz="1160">
                  <a:solidFill>
                    <a:srgbClr val="BFD5E7"/>
                  </a:solidFill>
                  <a:latin typeface="Sora"/>
                  <a:ea typeface="Sora"/>
                  <a:cs typeface="Sora"/>
                  <a:sym typeface="Sora"/>
                </a:rPr>
                <a:t>Ongoing investment in facilities and technology.</a:t>
              </a:r>
              <a:endParaRPr sz="116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pic>
        <p:nvPicPr>
          <p:cNvPr id="78" name="Google Shape;78;p5" title="Logo-SCi-Branca-Reduzida-P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66374" y="258775"/>
            <a:ext cx="1159624" cy="58522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/>
          <p:nvPr/>
        </p:nvSpPr>
        <p:spPr>
          <a:xfrm>
            <a:off x="6055775" y="3193625"/>
            <a:ext cx="5570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Sora"/>
              <a:buNone/>
            </a:pPr>
            <a:r>
              <a:rPr lang="en-US" sz="1320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A structure designed to combine operational capacity, technical reliability and a fast response to market demands.</a:t>
            </a:r>
            <a:endParaRPr sz="13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80" name="Google Shape;80;p5"/>
          <p:cNvGrpSpPr/>
          <p:nvPr/>
        </p:nvGrpSpPr>
        <p:grpSpPr>
          <a:xfrm>
            <a:off x="8984730" y="1955575"/>
            <a:ext cx="438900" cy="438900"/>
            <a:chOff x="9098280" y="1874520"/>
            <a:chExt cx="438900" cy="438900"/>
          </a:xfrm>
        </p:grpSpPr>
        <p:sp>
          <p:nvSpPr>
            <p:cNvPr id="81" name="Google Shape;81;p5"/>
            <p:cNvSpPr/>
            <p:nvPr/>
          </p:nvSpPr>
          <p:spPr>
            <a:xfrm>
              <a:off x="9098280" y="1874520"/>
              <a:ext cx="438900" cy="438900"/>
            </a:xfrm>
            <a:prstGeom prst="ellipse">
              <a:avLst/>
            </a:prstGeom>
            <a:solidFill>
              <a:srgbClr val="1F4C6D"/>
            </a:solidFill>
            <a:ln w="12700" cap="flat" cmpd="sng">
              <a:solidFill>
                <a:srgbClr val="1F4C6D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2" name="Google Shape;82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17155" y="1993401"/>
              <a:ext cx="201149" cy="2011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3" name="Google Shape;83;p5"/>
          <p:cNvGrpSpPr/>
          <p:nvPr/>
        </p:nvGrpSpPr>
        <p:grpSpPr>
          <a:xfrm>
            <a:off x="6190500" y="1942669"/>
            <a:ext cx="438912" cy="438912"/>
            <a:chOff x="6629400" y="1874520"/>
            <a:chExt cx="438912" cy="438912"/>
          </a:xfrm>
        </p:grpSpPr>
        <p:sp>
          <p:nvSpPr>
            <p:cNvPr id="84" name="Google Shape;84;p5"/>
            <p:cNvSpPr/>
            <p:nvPr/>
          </p:nvSpPr>
          <p:spPr>
            <a:xfrm>
              <a:off x="6629400" y="1874520"/>
              <a:ext cx="438912" cy="438912"/>
            </a:xfrm>
            <a:prstGeom prst="ellipse">
              <a:avLst/>
            </a:prstGeom>
            <a:solidFill>
              <a:srgbClr val="1F4C6D"/>
            </a:solidFill>
            <a:ln w="12700" cap="flat" cmpd="sng">
              <a:solidFill>
                <a:srgbClr val="1F4C6D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5" name="Google Shape;85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734550" y="1979613"/>
              <a:ext cx="228601" cy="22872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6" name="Google Shape;86;p5"/>
          <p:cNvPicPr preferRelativeResize="0"/>
          <p:nvPr/>
        </p:nvPicPr>
        <p:blipFill>
          <a:blip r:embed="rId6">
            <a:alphaModFix amt="28000"/>
          </a:blip>
          <a:stretch>
            <a:fillRect/>
          </a:stretch>
        </p:blipFill>
        <p:spPr>
          <a:xfrm>
            <a:off x="10019425" y="4916170"/>
            <a:ext cx="1051576" cy="120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5"/>
          <p:cNvPicPr preferRelativeResize="0"/>
          <p:nvPr/>
        </p:nvPicPr>
        <p:blipFill rotWithShape="1">
          <a:blip r:embed="rId7">
            <a:alphaModFix/>
          </a:blip>
          <a:srcRect r="21316" b="10587"/>
          <a:stretch/>
        </p:blipFill>
        <p:spPr>
          <a:xfrm>
            <a:off x="502925" y="1546813"/>
            <a:ext cx="4987500" cy="41361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150" y="0"/>
            <a:ext cx="12191700" cy="6858000"/>
          </a:xfrm>
          <a:prstGeom prst="rect">
            <a:avLst/>
          </a:prstGeom>
          <a:solidFill>
            <a:srgbClr val="F5F8FB"/>
          </a:solidFill>
          <a:ln w="12700" cap="flat" cmpd="sng">
            <a:solidFill>
              <a:srgbClr val="333333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2500"/>
              <a:buFont typeface="Sora"/>
              <a:buNone/>
            </a:pPr>
            <a:r>
              <a:rPr lang="en-US" sz="2500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Quality and monitoring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8498"/>
              </a:buClr>
              <a:buSzPts val="620"/>
              <a:buFont typeface="Sora"/>
              <a:buNone/>
            </a:pPr>
            <a:r>
              <a:rPr lang="en-US" sz="1120" b="1">
                <a:solidFill>
                  <a:srgbClr val="6F8498"/>
                </a:solidFill>
                <a:latin typeface="Sora"/>
                <a:ea typeface="Sora"/>
                <a:cs typeface="Sora"/>
                <a:sym typeface="Sora"/>
              </a:rPr>
              <a:t>TRANSPARENCY IN PROJECT MANAGEMENT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96" name="Google Shape;96;p6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w="254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7" name="Google Shape;97;p6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0AF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8EA0AF"/>
                </a:solidFill>
                <a:latin typeface="Sora"/>
                <a:ea typeface="Sora"/>
                <a:cs typeface="Sora"/>
                <a:sym typeface="Sora"/>
              </a:rPr>
              <a:t>SCI-AGRO  •  Commercial Presentation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98" name="Google Shape;98;p6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w="203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9" name="Google Shape;99;p6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600"/>
              <a:buFont typeface="Sora"/>
              <a:buNone/>
            </a:pPr>
            <a:r>
              <a:rPr lang="en-US" sz="600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04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00" name="Google Shape;100;p6" descr="/mnt/data/old_pptx_unzip/ppt/media/image26.png"/>
          <p:cNvPicPr preferRelativeResize="0"/>
          <p:nvPr/>
        </p:nvPicPr>
        <p:blipFill rotWithShape="1">
          <a:blip r:embed="rId3">
            <a:alphaModFix/>
          </a:blip>
          <a:srcRect l="10321" t="11053" r="24519" b="21301"/>
          <a:stretch/>
        </p:blipFill>
        <p:spPr>
          <a:xfrm>
            <a:off x="502925" y="1723650"/>
            <a:ext cx="5166300" cy="3192600"/>
          </a:xfrm>
          <a:prstGeom prst="rect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1" name="Google Shape;101;p6"/>
          <p:cNvSpPr/>
          <p:nvPr/>
        </p:nvSpPr>
        <p:spPr>
          <a:xfrm>
            <a:off x="5989320" y="1554480"/>
            <a:ext cx="2514600" cy="1024200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" name="Google Shape;102;p6"/>
          <p:cNvGrpSpPr/>
          <p:nvPr/>
        </p:nvGrpSpPr>
        <p:grpSpPr>
          <a:xfrm>
            <a:off x="6739125" y="1723652"/>
            <a:ext cx="1764900" cy="685783"/>
            <a:chOff x="6739125" y="1764792"/>
            <a:chExt cx="1764900" cy="685783"/>
          </a:xfrm>
        </p:grpSpPr>
        <p:sp>
          <p:nvSpPr>
            <p:cNvPr id="103" name="Google Shape;103;p6"/>
            <p:cNvSpPr/>
            <p:nvPr/>
          </p:nvSpPr>
          <p:spPr>
            <a:xfrm>
              <a:off x="6739128" y="1764792"/>
              <a:ext cx="15544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5" tIns="375" rIns="375" bIns="3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02337"/>
                </a:buClr>
                <a:buSzPts val="1050"/>
                <a:buFont typeface="Sora"/>
                <a:buNone/>
              </a:pPr>
              <a:r>
                <a:rPr lang="en-US" sz="1250" b="1">
                  <a:solidFill>
                    <a:srgbClr val="102337"/>
                  </a:solidFill>
                  <a:latin typeface="Sora"/>
                  <a:ea typeface="Sora"/>
                  <a:cs typeface="Sora"/>
                  <a:sym typeface="Sora"/>
                </a:rPr>
                <a:t>PMO</a:t>
              </a:r>
              <a:endParaRPr sz="125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6739125" y="2029975"/>
              <a:ext cx="1764900" cy="42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5" tIns="375" rIns="375" bIns="3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E7185"/>
                </a:buClr>
                <a:buSzPts val="703"/>
                <a:buFont typeface="Sora"/>
                <a:buNone/>
              </a:pPr>
              <a:r>
                <a:rPr lang="en-US" sz="1003">
                  <a:solidFill>
                    <a:srgbClr val="5E7185"/>
                  </a:solidFill>
                  <a:latin typeface="Sora"/>
                  <a:ea typeface="Sora"/>
                  <a:cs typeface="Sora"/>
                  <a:sym typeface="Sora"/>
                </a:rPr>
                <a:t>Responsible for monitoring project progress.</a:t>
              </a:r>
              <a:endParaRPr sz="1003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5" name="Google Shape;105;p6"/>
          <p:cNvSpPr/>
          <p:nvPr/>
        </p:nvSpPr>
        <p:spPr>
          <a:xfrm>
            <a:off x="8823960" y="1554480"/>
            <a:ext cx="2514600" cy="1024200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" name="Google Shape;106;p6"/>
          <p:cNvGrpSpPr/>
          <p:nvPr/>
        </p:nvGrpSpPr>
        <p:grpSpPr>
          <a:xfrm>
            <a:off x="9573768" y="1723652"/>
            <a:ext cx="1554480" cy="685785"/>
            <a:chOff x="9573768" y="1764792"/>
            <a:chExt cx="1554480" cy="685785"/>
          </a:xfrm>
        </p:grpSpPr>
        <p:sp>
          <p:nvSpPr>
            <p:cNvPr id="107" name="Google Shape;107;p6"/>
            <p:cNvSpPr/>
            <p:nvPr/>
          </p:nvSpPr>
          <p:spPr>
            <a:xfrm>
              <a:off x="9573768" y="1764792"/>
              <a:ext cx="15544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5" tIns="375" rIns="375" bIns="3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02337"/>
                </a:buClr>
                <a:buSzPts val="1050"/>
                <a:buFont typeface="Sora"/>
                <a:buNone/>
              </a:pPr>
              <a:r>
                <a:rPr lang="en-US" sz="1250" b="1">
                  <a:solidFill>
                    <a:srgbClr val="102337"/>
                  </a:solidFill>
                  <a:latin typeface="Sora"/>
                  <a:ea typeface="Sora"/>
                  <a:cs typeface="Sora"/>
                  <a:sym typeface="Sora"/>
                </a:rPr>
                <a:t>Client portal</a:t>
              </a:r>
              <a:endParaRPr sz="125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9573775" y="2029977"/>
              <a:ext cx="1508700" cy="42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5" tIns="375" rIns="375" bIns="3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E7185"/>
                </a:buClr>
                <a:buSzPts val="760"/>
                <a:buFont typeface="Sora"/>
                <a:buNone/>
              </a:pPr>
              <a:r>
                <a:rPr lang="en-US" sz="1000">
                  <a:solidFill>
                    <a:srgbClr val="5E7185"/>
                  </a:solidFill>
                  <a:latin typeface="Sora"/>
                  <a:ea typeface="Sora"/>
                  <a:cs typeface="Sora"/>
                  <a:sym typeface="Sora"/>
                </a:rPr>
                <a:t>Project status and report access through the website.</a:t>
              </a:r>
              <a:endPara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9" name="Google Shape;109;p6"/>
          <p:cNvSpPr/>
          <p:nvPr/>
        </p:nvSpPr>
        <p:spPr>
          <a:xfrm>
            <a:off x="5989320" y="2971800"/>
            <a:ext cx="2514600" cy="1024200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" name="Google Shape;110;p6"/>
          <p:cNvGrpSpPr/>
          <p:nvPr/>
        </p:nvGrpSpPr>
        <p:grpSpPr>
          <a:xfrm>
            <a:off x="6739125" y="3140968"/>
            <a:ext cx="1554483" cy="685791"/>
            <a:chOff x="6739125" y="3182112"/>
            <a:chExt cx="1554483" cy="685791"/>
          </a:xfrm>
        </p:grpSpPr>
        <p:sp>
          <p:nvSpPr>
            <p:cNvPr id="111" name="Google Shape;111;p6"/>
            <p:cNvSpPr/>
            <p:nvPr/>
          </p:nvSpPr>
          <p:spPr>
            <a:xfrm>
              <a:off x="6739128" y="3182112"/>
              <a:ext cx="15544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5" tIns="375" rIns="375" bIns="3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02337"/>
                </a:buClr>
                <a:buSzPts val="1050"/>
                <a:buFont typeface="Sora"/>
                <a:buNone/>
              </a:pPr>
              <a:r>
                <a:rPr lang="en-US" sz="1250" b="1">
                  <a:solidFill>
                    <a:srgbClr val="102337"/>
                  </a:solidFill>
                  <a:latin typeface="Sora"/>
                  <a:ea typeface="Sora"/>
                  <a:cs typeface="Sora"/>
                  <a:sym typeface="Sora"/>
                </a:rPr>
                <a:t>Technical team</a:t>
              </a:r>
              <a:endParaRPr sz="125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6739125" y="3447303"/>
              <a:ext cx="1508700" cy="42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5" tIns="375" rIns="375" bIns="3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E7185"/>
                </a:buClr>
                <a:buSzPts val="760"/>
                <a:buFont typeface="Sora"/>
                <a:buNone/>
              </a:pPr>
              <a:r>
                <a:rPr lang="en-US" sz="1000">
                  <a:solidFill>
                    <a:srgbClr val="5E7185"/>
                  </a:solidFill>
                  <a:latin typeface="Sora"/>
                  <a:ea typeface="Sora"/>
                  <a:cs typeface="Sora"/>
                  <a:sym typeface="Sora"/>
                </a:rPr>
                <a:t>Experienced professionals and quick contact.</a:t>
              </a:r>
              <a:endPara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3" name="Google Shape;113;p6"/>
          <p:cNvSpPr/>
          <p:nvPr/>
        </p:nvSpPr>
        <p:spPr>
          <a:xfrm>
            <a:off x="8823960" y="2971800"/>
            <a:ext cx="2514600" cy="1024200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4" name="Google Shape;114;p6"/>
          <p:cNvGrpSpPr/>
          <p:nvPr/>
        </p:nvGrpSpPr>
        <p:grpSpPr>
          <a:xfrm>
            <a:off x="9573768" y="3195828"/>
            <a:ext cx="1554480" cy="576072"/>
            <a:chOff x="9573768" y="3182112"/>
            <a:chExt cx="1554480" cy="576072"/>
          </a:xfrm>
        </p:grpSpPr>
        <p:sp>
          <p:nvSpPr>
            <p:cNvPr id="115" name="Google Shape;115;p6"/>
            <p:cNvSpPr/>
            <p:nvPr/>
          </p:nvSpPr>
          <p:spPr>
            <a:xfrm>
              <a:off x="9573768" y="3182112"/>
              <a:ext cx="15544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5" tIns="375" rIns="375" bIns="3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02337"/>
                </a:buClr>
                <a:buSzPts val="1050"/>
                <a:buFont typeface="Sora"/>
                <a:buNone/>
              </a:pPr>
              <a:r>
                <a:rPr lang="en-US" sz="1250" b="1">
                  <a:solidFill>
                    <a:srgbClr val="102337"/>
                  </a:solidFill>
                  <a:latin typeface="Sora"/>
                  <a:ea typeface="Sora"/>
                  <a:cs typeface="Sora"/>
                  <a:sym typeface="Sora"/>
                </a:rPr>
                <a:t>Languages</a:t>
              </a:r>
              <a:endParaRPr sz="125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6" name="Google Shape;116;p6"/>
            <p:cNvSpPr/>
            <p:nvPr/>
          </p:nvSpPr>
          <p:spPr>
            <a:xfrm>
              <a:off x="9573768" y="3447288"/>
              <a:ext cx="1508760" cy="3108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5" tIns="375" rIns="375" bIns="3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E7185"/>
                </a:buClr>
                <a:buSzPts val="760"/>
                <a:buFont typeface="Sora"/>
                <a:buNone/>
              </a:pPr>
              <a:r>
                <a:rPr lang="en-US" sz="1000">
                  <a:solidFill>
                    <a:srgbClr val="5E7185"/>
                  </a:solidFill>
                  <a:latin typeface="Sora"/>
                  <a:ea typeface="Sora"/>
                  <a:cs typeface="Sora"/>
                  <a:sym typeface="Sora"/>
                </a:rPr>
                <a:t>Simultaneous issuance when required.</a:t>
              </a:r>
              <a:endPara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7" name="Google Shape;117;p6"/>
          <p:cNvSpPr/>
          <p:nvPr/>
        </p:nvSpPr>
        <p:spPr>
          <a:xfrm>
            <a:off x="6035020" y="4233667"/>
            <a:ext cx="53034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1270"/>
              <a:buFont typeface="Sora"/>
              <a:buNone/>
            </a:pPr>
            <a:r>
              <a:rPr lang="en-US" sz="1270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Structured monitoring to reduce noise, gain predictability and keep the sponsor close to the operation.</a:t>
            </a:r>
            <a:endParaRPr sz="127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18" name="Google Shape;118;p6"/>
          <p:cNvGrpSpPr/>
          <p:nvPr/>
        </p:nvGrpSpPr>
        <p:grpSpPr>
          <a:xfrm>
            <a:off x="9025128" y="3273552"/>
            <a:ext cx="420624" cy="420624"/>
            <a:chOff x="9025128" y="3227832"/>
            <a:chExt cx="420624" cy="420624"/>
          </a:xfrm>
        </p:grpSpPr>
        <p:sp>
          <p:nvSpPr>
            <p:cNvPr id="119" name="Google Shape;119;p6"/>
            <p:cNvSpPr/>
            <p:nvPr/>
          </p:nvSpPr>
          <p:spPr>
            <a:xfrm>
              <a:off x="9025128" y="3227832"/>
              <a:ext cx="420624" cy="420624"/>
            </a:xfrm>
            <a:prstGeom prst="ellipse">
              <a:avLst/>
            </a:prstGeom>
            <a:solidFill>
              <a:srgbClr val="EEF7E5"/>
            </a:solidFill>
            <a:ln w="12700" cap="flat" cmpd="sng">
              <a:solidFill>
                <a:srgbClr val="EEF7E5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20" name="Google Shape;120;p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108725" y="3311427"/>
              <a:ext cx="253425" cy="2534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6"/>
          <p:cNvGrpSpPr/>
          <p:nvPr/>
        </p:nvGrpSpPr>
        <p:grpSpPr>
          <a:xfrm>
            <a:off x="9025128" y="1856232"/>
            <a:ext cx="420624" cy="420624"/>
            <a:chOff x="9025128" y="1810512"/>
            <a:chExt cx="420624" cy="420624"/>
          </a:xfrm>
        </p:grpSpPr>
        <p:sp>
          <p:nvSpPr>
            <p:cNvPr id="122" name="Google Shape;122;p6"/>
            <p:cNvSpPr/>
            <p:nvPr/>
          </p:nvSpPr>
          <p:spPr>
            <a:xfrm>
              <a:off x="9025128" y="1810512"/>
              <a:ext cx="420624" cy="420624"/>
            </a:xfrm>
            <a:prstGeom prst="ellipse">
              <a:avLst/>
            </a:prstGeom>
            <a:solidFill>
              <a:srgbClr val="EEF7E5"/>
            </a:solidFill>
            <a:ln w="12700" cap="flat" cmpd="sng">
              <a:solidFill>
                <a:srgbClr val="EEF7E5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23" name="Google Shape;123;p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108719" y="1894650"/>
              <a:ext cx="253425" cy="2450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4" name="Google Shape;124;p6"/>
          <p:cNvGrpSpPr/>
          <p:nvPr/>
        </p:nvGrpSpPr>
        <p:grpSpPr>
          <a:xfrm>
            <a:off x="6190488" y="1856232"/>
            <a:ext cx="420624" cy="420624"/>
            <a:chOff x="6190488" y="1810512"/>
            <a:chExt cx="420624" cy="420624"/>
          </a:xfrm>
        </p:grpSpPr>
        <p:sp>
          <p:nvSpPr>
            <p:cNvPr id="125" name="Google Shape;125;p6"/>
            <p:cNvSpPr/>
            <p:nvPr/>
          </p:nvSpPr>
          <p:spPr>
            <a:xfrm>
              <a:off x="6190488" y="1810512"/>
              <a:ext cx="420624" cy="420624"/>
            </a:xfrm>
            <a:prstGeom prst="ellipse">
              <a:avLst/>
            </a:prstGeom>
            <a:solidFill>
              <a:srgbClr val="EAF2F7"/>
            </a:solidFill>
            <a:ln w="12700" cap="flat" cmpd="sng">
              <a:solidFill>
                <a:srgbClr val="EAF2F7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26" name="Google Shape;126;p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304076" y="1925713"/>
              <a:ext cx="193459" cy="182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" name="Google Shape;127;p6"/>
          <p:cNvGrpSpPr/>
          <p:nvPr/>
        </p:nvGrpSpPr>
        <p:grpSpPr>
          <a:xfrm>
            <a:off x="6190488" y="3273552"/>
            <a:ext cx="420624" cy="420624"/>
            <a:chOff x="6190488" y="3227832"/>
            <a:chExt cx="420624" cy="420624"/>
          </a:xfrm>
        </p:grpSpPr>
        <p:sp>
          <p:nvSpPr>
            <p:cNvPr id="128" name="Google Shape;128;p6"/>
            <p:cNvSpPr/>
            <p:nvPr/>
          </p:nvSpPr>
          <p:spPr>
            <a:xfrm>
              <a:off x="6190488" y="3227832"/>
              <a:ext cx="420624" cy="420624"/>
            </a:xfrm>
            <a:prstGeom prst="ellipse">
              <a:avLst/>
            </a:prstGeom>
            <a:solidFill>
              <a:srgbClr val="EAF2F7"/>
            </a:solidFill>
            <a:ln w="12700" cap="flat" cmpd="sng">
              <a:solidFill>
                <a:srgbClr val="EAF2F7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29" name="Google Shape;129;p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274095" y="3311420"/>
              <a:ext cx="253425" cy="2534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0" name="Google Shape;130;p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019425" y="4916170"/>
            <a:ext cx="1051576" cy="120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A43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/>
          <p:nvPr/>
        </p:nvSpPr>
        <p:spPr>
          <a:xfrm>
            <a:off x="9966960" y="5212080"/>
            <a:ext cx="21945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4260"/>
              </a:buClr>
              <a:buSzPts val="8200"/>
              <a:buFont typeface="Sora"/>
              <a:buNone/>
            </a:pPr>
            <a:r>
              <a:rPr lang="en-US" sz="8200" b="1">
                <a:solidFill>
                  <a:srgbClr val="174260"/>
                </a:solidFill>
                <a:latin typeface="Sora"/>
                <a:ea typeface="Sora"/>
                <a:cs typeface="Sora"/>
                <a:sym typeface="Sora"/>
              </a:rPr>
              <a:t>A</a:t>
            </a:r>
            <a:endParaRPr sz="82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Sora"/>
              <a:buNone/>
            </a:pPr>
            <a:r>
              <a:rPr lang="en-US" sz="2500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Our services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620"/>
              <a:buFont typeface="Sora"/>
              <a:buNone/>
            </a:pPr>
            <a:r>
              <a:rPr lang="en-US" sz="1120" b="1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TECHNICAL SCOPE FOR DIFFERENT REGULATORY DEMANDS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39" name="Google Shape;139;p7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w="254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0" name="Google Shape;140;p7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A8C0D6"/>
                </a:solidFill>
                <a:latin typeface="Sora"/>
                <a:ea typeface="Sora"/>
                <a:cs typeface="Sora"/>
                <a:sym typeface="Sora"/>
              </a:rPr>
              <a:t>SCI-AGRO  •  Commercial Presentation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41" name="Google Shape;141;p7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w="203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2" name="Google Shape;142;p7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Sora"/>
              <a:buNone/>
            </a:pPr>
            <a:r>
              <a:rPr lang="en-US" sz="600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05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02925" y="1780238"/>
            <a:ext cx="1948800" cy="768000"/>
          </a:xfrm>
          <a:prstGeom prst="roundRect">
            <a:avLst>
              <a:gd name="adj" fmla="val 10976"/>
            </a:avLst>
          </a:prstGeom>
          <a:solidFill>
            <a:srgbClr val="163D5A"/>
          </a:solidFill>
          <a:ln w="13000" cap="flat" cmpd="sng">
            <a:solidFill>
              <a:srgbClr val="2858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3675" tIns="93675" rIns="93675" bIns="936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652824" y="2061296"/>
            <a:ext cx="515100" cy="2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C63F"/>
              </a:buClr>
              <a:buSzPts val="820"/>
              <a:buFont typeface="Sora"/>
              <a:buNone/>
            </a:pPr>
            <a:r>
              <a:rPr lang="en-US" sz="820" b="1">
                <a:solidFill>
                  <a:srgbClr val="8CC63F"/>
                </a:solidFill>
                <a:latin typeface="Sora"/>
                <a:ea typeface="Sora"/>
                <a:cs typeface="Sora"/>
                <a:sym typeface="Sora"/>
              </a:rPr>
              <a:t>5-batch</a:t>
            </a:r>
            <a:endParaRPr sz="8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177468" y="2005085"/>
            <a:ext cx="1207008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9"/>
              <a:buFont typeface="Sora"/>
              <a:buNone/>
            </a:pPr>
            <a:r>
              <a:rPr lang="en-US" sz="1004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5-batch Analysis</a:t>
            </a:r>
            <a:endParaRPr sz="1004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2770137" y="1780238"/>
            <a:ext cx="1948800" cy="768000"/>
          </a:xfrm>
          <a:prstGeom prst="roundRect">
            <a:avLst>
              <a:gd name="adj" fmla="val 10976"/>
            </a:avLst>
          </a:prstGeom>
          <a:solidFill>
            <a:srgbClr val="163D5A"/>
          </a:solidFill>
          <a:ln w="13000" cap="flat" cmpd="sng">
            <a:solidFill>
              <a:srgbClr val="2858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3675" tIns="93675" rIns="93675" bIns="936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3444705" y="2005134"/>
            <a:ext cx="1207008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9"/>
              <a:buFont typeface="Sora"/>
              <a:buNone/>
            </a:pPr>
            <a:r>
              <a:rPr lang="en-US" sz="1004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Genotoxicity Studies</a:t>
            </a:r>
            <a:endParaRPr sz="1004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037348" y="1780238"/>
            <a:ext cx="1948800" cy="768000"/>
          </a:xfrm>
          <a:prstGeom prst="roundRect">
            <a:avLst>
              <a:gd name="adj" fmla="val 10976"/>
            </a:avLst>
          </a:prstGeom>
          <a:solidFill>
            <a:srgbClr val="163D5A"/>
          </a:solidFill>
          <a:ln w="13000" cap="flat" cmpd="sng">
            <a:solidFill>
              <a:srgbClr val="2858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3675" tIns="93675" rIns="93675" bIns="936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5707216" y="2005134"/>
            <a:ext cx="1207008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9"/>
              <a:buFont typeface="Sora"/>
              <a:buNone/>
            </a:pPr>
            <a:r>
              <a:rPr lang="en-US" sz="1004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Physicochemical Studies</a:t>
            </a:r>
            <a:endParaRPr sz="1004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02951" y="3044951"/>
            <a:ext cx="1948800" cy="768000"/>
          </a:xfrm>
          <a:prstGeom prst="roundRect">
            <a:avLst>
              <a:gd name="adj" fmla="val 10976"/>
            </a:avLst>
          </a:prstGeom>
          <a:solidFill>
            <a:srgbClr val="163D5A"/>
          </a:solidFill>
          <a:ln w="13000" cap="flat" cmpd="sng">
            <a:solidFill>
              <a:srgbClr val="2858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3675" tIns="93675" rIns="93675" bIns="936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1177455" y="3269791"/>
            <a:ext cx="1207008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9"/>
              <a:buFont typeface="Sora"/>
              <a:buNone/>
            </a:pPr>
            <a:r>
              <a:rPr lang="en-US" sz="1004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Ecotoxicology Studies</a:t>
            </a:r>
            <a:endParaRPr sz="1004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2770137" y="3045002"/>
            <a:ext cx="1948800" cy="768000"/>
          </a:xfrm>
          <a:prstGeom prst="roundRect">
            <a:avLst>
              <a:gd name="adj" fmla="val 10976"/>
            </a:avLst>
          </a:prstGeom>
          <a:solidFill>
            <a:srgbClr val="163D5A"/>
          </a:solidFill>
          <a:ln w="13000" cap="flat" cmpd="sng">
            <a:solidFill>
              <a:srgbClr val="2858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3675" tIns="93675" rIns="93675" bIns="936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3444679" y="3269898"/>
            <a:ext cx="1207008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9"/>
              <a:buFont typeface="Sora"/>
              <a:buNone/>
            </a:pPr>
            <a:r>
              <a:rPr lang="en-US" sz="944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In vivo &amp; in vitro Toxicology Studies</a:t>
            </a:r>
            <a:endParaRPr sz="944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5037348" y="3045002"/>
            <a:ext cx="1948800" cy="768000"/>
          </a:xfrm>
          <a:prstGeom prst="roundRect">
            <a:avLst>
              <a:gd name="adj" fmla="val 10976"/>
            </a:avLst>
          </a:prstGeom>
          <a:solidFill>
            <a:srgbClr val="163D5A"/>
          </a:solidFill>
          <a:ln w="13000" cap="flat" cmpd="sng">
            <a:solidFill>
              <a:srgbClr val="2858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3675" tIns="93675" rIns="93675" bIns="936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5711891" y="3269843"/>
            <a:ext cx="1207008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9"/>
              <a:buFont typeface="Sora"/>
              <a:buNone/>
            </a:pPr>
            <a:r>
              <a:rPr lang="en-US" sz="1004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Microbiology</a:t>
            </a:r>
            <a:endParaRPr sz="1004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02925" y="4309766"/>
            <a:ext cx="1948800" cy="768000"/>
          </a:xfrm>
          <a:prstGeom prst="roundRect">
            <a:avLst>
              <a:gd name="adj" fmla="val 10976"/>
            </a:avLst>
          </a:prstGeom>
          <a:solidFill>
            <a:srgbClr val="163D5A"/>
          </a:solidFill>
          <a:ln w="13000" cap="flat" cmpd="sng">
            <a:solidFill>
              <a:srgbClr val="2858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3675" tIns="93675" rIns="93675" bIns="936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1177468" y="4534613"/>
            <a:ext cx="1207008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9"/>
              <a:buFont typeface="Sora"/>
              <a:buNone/>
            </a:pPr>
            <a:r>
              <a:rPr lang="en-US" sz="1004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In silico Toxicology</a:t>
            </a:r>
            <a:endParaRPr sz="1004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2770137" y="4309766"/>
            <a:ext cx="1948800" cy="768000"/>
          </a:xfrm>
          <a:prstGeom prst="roundRect">
            <a:avLst>
              <a:gd name="adj" fmla="val 10976"/>
            </a:avLst>
          </a:prstGeom>
          <a:solidFill>
            <a:srgbClr val="163D5A"/>
          </a:solidFill>
          <a:ln w="13000" cap="flat" cmpd="sng">
            <a:solidFill>
              <a:srgbClr val="2858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3675" tIns="93675" rIns="93675" bIns="936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3444679" y="4534662"/>
            <a:ext cx="1207008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9"/>
              <a:buFont typeface="Sora"/>
              <a:buNone/>
            </a:pPr>
            <a:r>
              <a:rPr lang="en-US" sz="1004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Pesticide Residues</a:t>
            </a:r>
            <a:endParaRPr sz="1004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5037348" y="4309766"/>
            <a:ext cx="1948800" cy="768000"/>
          </a:xfrm>
          <a:prstGeom prst="roundRect">
            <a:avLst>
              <a:gd name="adj" fmla="val 10976"/>
            </a:avLst>
          </a:prstGeom>
          <a:solidFill>
            <a:srgbClr val="163D5A"/>
          </a:solidFill>
          <a:ln w="13000" cap="flat" cmpd="sng">
            <a:solidFill>
              <a:srgbClr val="2858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3675" tIns="93675" rIns="93675" bIns="936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5711891" y="4534607"/>
            <a:ext cx="1207008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9"/>
              <a:buFont typeface="Sora"/>
              <a:buNone/>
            </a:pPr>
            <a:r>
              <a:rPr lang="en-US" sz="1004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R&amp;D and training</a:t>
            </a:r>
            <a:endParaRPr sz="1004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62" name="Google Shape;1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0998" y="1963242"/>
            <a:ext cx="483491" cy="402219"/>
          </a:xfrm>
          <a:prstGeom prst="rect">
            <a:avLst/>
          </a:prstGeom>
          <a:solidFill>
            <a:srgbClr val="163D5A"/>
          </a:solidFill>
          <a:ln>
            <a:noFill/>
          </a:ln>
        </p:spPr>
      </p:pic>
      <p:pic>
        <p:nvPicPr>
          <p:cNvPr id="163" name="Google Shape;16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0470" y="1987721"/>
            <a:ext cx="307357" cy="353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421" y="3203851"/>
            <a:ext cx="483492" cy="450315"/>
          </a:xfrm>
          <a:prstGeom prst="rect">
            <a:avLst/>
          </a:prstGeom>
          <a:solidFill>
            <a:srgbClr val="163D5A"/>
          </a:solidFill>
          <a:ln>
            <a:noFill/>
          </a:ln>
        </p:spPr>
      </p:pic>
      <p:pic>
        <p:nvPicPr>
          <p:cNvPr id="165" name="Google Shape;165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60966" y="3216516"/>
            <a:ext cx="483492" cy="425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91839" y="4394079"/>
            <a:ext cx="421788" cy="599601"/>
          </a:xfrm>
          <a:prstGeom prst="rect">
            <a:avLst/>
          </a:prstGeom>
          <a:solidFill>
            <a:srgbClr val="163D5A"/>
          </a:solidFill>
          <a:ln>
            <a:noFill/>
          </a:ln>
        </p:spPr>
      </p:pic>
      <p:pic>
        <p:nvPicPr>
          <p:cNvPr id="167" name="Google Shape;167;p7" title="research (1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36025" y="4482943"/>
            <a:ext cx="421788" cy="421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7" title="microbiology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23577" y="3218155"/>
            <a:ext cx="421788" cy="421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7" title="molecule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99421" y="4492308"/>
            <a:ext cx="421788" cy="421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7"/>
          <p:cNvPicPr preferRelativeResize="0"/>
          <p:nvPr/>
        </p:nvPicPr>
        <p:blipFill rotWithShape="1">
          <a:blip r:embed="rId11">
            <a:alphaModFix/>
          </a:blip>
          <a:srcRect l="12891" r="48316"/>
          <a:stretch/>
        </p:blipFill>
        <p:spPr>
          <a:xfrm>
            <a:off x="7470750" y="0"/>
            <a:ext cx="4727225" cy="6858001"/>
          </a:xfrm>
          <a:prstGeom prst="rect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 w="12700" cap="flat" cmpd="sng">
            <a:solidFill>
              <a:srgbClr val="333333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7" name="Google Shape;177;p8" descr="/mnt/data/Logo-Sci-Reduzida-Colorida-PN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7004" y="256032"/>
            <a:ext cx="1159609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2500"/>
              <a:buFont typeface="Sora"/>
              <a:buNone/>
            </a:pPr>
            <a:r>
              <a:rPr lang="en-US" sz="2500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5-batch Analysis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8498"/>
              </a:buClr>
              <a:buSzPts val="620"/>
              <a:buFont typeface="Sora"/>
              <a:buNone/>
            </a:pPr>
            <a:r>
              <a:rPr lang="en-US" sz="1120" b="1">
                <a:solidFill>
                  <a:srgbClr val="6F8498"/>
                </a:solidFill>
                <a:latin typeface="Sora"/>
                <a:ea typeface="Sora"/>
                <a:cs typeface="Sora"/>
                <a:sym typeface="Sora"/>
              </a:rPr>
              <a:t>ROBUSTNESS FOR TECHNICAL AND PHYTOCHEMICAL PRODUCTS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80" name="Google Shape;180;p8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w="254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1" name="Google Shape;181;p8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0AF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8EA0AF"/>
                </a:solidFill>
                <a:latin typeface="Sora"/>
                <a:ea typeface="Sora"/>
                <a:cs typeface="Sora"/>
                <a:sym typeface="Sora"/>
              </a:rPr>
              <a:t>SCI-AGRO  •  Commercial Presentation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82" name="Google Shape;182;p8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w="203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3" name="Google Shape;183;p8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600"/>
              <a:buFont typeface="Sora"/>
              <a:buNone/>
            </a:pPr>
            <a:r>
              <a:rPr lang="en-US" sz="600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06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84" name="Google Shape;184;p8" descr="/mnt/data/old_pptx_unzip/ppt/media/image34.png"/>
          <p:cNvPicPr preferRelativeResize="0"/>
          <p:nvPr/>
        </p:nvPicPr>
        <p:blipFill rotWithShape="1">
          <a:blip r:embed="rId4">
            <a:alphaModFix/>
          </a:blip>
          <a:srcRect t="1460" b="-1460"/>
          <a:stretch/>
        </p:blipFill>
        <p:spPr>
          <a:xfrm>
            <a:off x="594350" y="1526575"/>
            <a:ext cx="2788924" cy="217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8" descr="/mnt/data/old_pptx_unzip/ppt/media/image33.jpeg"/>
          <p:cNvPicPr preferRelativeResize="0"/>
          <p:nvPr/>
        </p:nvPicPr>
        <p:blipFill rotWithShape="1">
          <a:blip r:embed="rId5">
            <a:alphaModFix/>
          </a:blip>
          <a:srcRect t="12047" b="38479"/>
          <a:stretch/>
        </p:blipFill>
        <p:spPr>
          <a:xfrm>
            <a:off x="619635" y="3643882"/>
            <a:ext cx="2788920" cy="178308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8"/>
          <p:cNvSpPr/>
          <p:nvPr/>
        </p:nvSpPr>
        <p:spPr>
          <a:xfrm>
            <a:off x="3891800" y="1551475"/>
            <a:ext cx="3194700" cy="23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127000" marR="0" lvl="0" indent="-13970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320"/>
              <a:buFont typeface="Sora"/>
              <a:buChar char="•"/>
            </a:pPr>
            <a:r>
              <a:rPr lang="en-US" sz="132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Compliance with multiple regulatory authorities: SENAVE, SENASA, COFEPRIS, EU, EPA, among others.</a:t>
            </a:r>
            <a:endParaRPr sz="13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marL="127000" marR="0" lvl="0" indent="-13970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320"/>
              <a:buFont typeface="Sora"/>
              <a:buChar char="•"/>
            </a:pPr>
            <a:r>
              <a:rPr lang="en-US" sz="132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Experienced team in conducting studies and in the technical interpretation of data.</a:t>
            </a:r>
            <a:endParaRPr sz="13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marL="127000" marR="0" lvl="0" indent="-13970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320"/>
              <a:buFont typeface="Sora"/>
              <a:buChar char="•"/>
            </a:pPr>
            <a:r>
              <a:rPr lang="en-US" sz="132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Isolation and certification of impurity standards with unequivocal identification.</a:t>
            </a:r>
            <a:endParaRPr sz="13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3886200" y="4197100"/>
            <a:ext cx="3194700" cy="1021200"/>
          </a:xfrm>
          <a:prstGeom prst="roundRect">
            <a:avLst>
              <a:gd name="adj" fmla="val 7826"/>
            </a:avLst>
          </a:prstGeom>
          <a:solidFill>
            <a:srgbClr val="FFF7EF"/>
          </a:solidFill>
          <a:ln w="12700" cap="flat" cmpd="sng">
            <a:solidFill>
              <a:srgbClr val="FAD2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4133100" y="4373050"/>
            <a:ext cx="2587800" cy="6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7931E"/>
              </a:buClr>
              <a:buSzPts val="1140"/>
              <a:buFont typeface="Sora"/>
              <a:buNone/>
            </a:pPr>
            <a:r>
              <a:rPr lang="en-US" sz="1640" b="1">
                <a:solidFill>
                  <a:srgbClr val="F7931E"/>
                </a:solidFill>
                <a:latin typeface="Sora"/>
                <a:ea typeface="Sora"/>
                <a:cs typeface="Sora"/>
                <a:sym typeface="Sora"/>
              </a:rPr>
              <a:t>An advantage for phytochemical products.</a:t>
            </a:r>
            <a:endParaRPr sz="164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89" name="Google Shape;189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05825" y="1633188"/>
            <a:ext cx="4788900" cy="359160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9" descr="/mnt/data/Logo-Sci-Reduzida-Colorida-PN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7004" y="256032"/>
            <a:ext cx="1159609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9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2500"/>
              <a:buFont typeface="Sora"/>
              <a:buNone/>
            </a:pPr>
            <a:r>
              <a:rPr lang="en-US" sz="2500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Physicochemical Studies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8498"/>
              </a:buClr>
              <a:buSzPts val="620"/>
              <a:buFont typeface="Sora"/>
              <a:buNone/>
            </a:pPr>
            <a:r>
              <a:rPr lang="en-US" sz="1120" b="1">
                <a:solidFill>
                  <a:srgbClr val="6F8498"/>
                </a:solidFill>
                <a:latin typeface="Sora"/>
                <a:ea typeface="Sora"/>
                <a:cs typeface="Sora"/>
                <a:sym typeface="Sora"/>
              </a:rPr>
              <a:t>MORE THAN 63 STUDIES IN SCOPE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98" name="Google Shape;198;p9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w="254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9" name="Google Shape;199;p9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0AF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8EA0AF"/>
                </a:solidFill>
                <a:latin typeface="Sora"/>
                <a:ea typeface="Sora"/>
                <a:cs typeface="Sora"/>
                <a:sym typeface="Sora"/>
              </a:rPr>
              <a:t>SCI-AGRO  •  Commercial Presentation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200" name="Google Shape;200;p9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w="203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1" name="Google Shape;201;p9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600"/>
              <a:buFont typeface="Sora"/>
              <a:buNone/>
            </a:pPr>
            <a:r>
              <a:rPr lang="en-US" sz="600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07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502925" y="1535750"/>
            <a:ext cx="4846200" cy="21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127000" marR="0" lvl="0" indent="-14605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340"/>
              <a:buFont typeface="Sora"/>
              <a:buChar char="•"/>
            </a:pPr>
            <a:r>
              <a:rPr lang="en-US" sz="134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Extensive scope covering requirements in Brazil, Europe and South American countries.</a:t>
            </a:r>
            <a:endParaRPr sz="134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marL="127000" marR="0" lvl="0" indent="-14605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340"/>
              <a:buFont typeface="Sora"/>
              <a:buChar char="•"/>
            </a:pPr>
            <a:r>
              <a:rPr lang="en-US" sz="134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Includes studies such as explosivity, Henry's law constant, chemical incompatibility and auto-ignition.</a:t>
            </a:r>
            <a:endParaRPr sz="134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marL="127000" marR="0" lvl="0" indent="-14605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340"/>
              <a:buFont typeface="Sora"/>
              <a:buChar char="•"/>
            </a:pPr>
            <a:r>
              <a:rPr lang="en-US" sz="134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Critical assessment of test guidelines for each formulation type.</a:t>
            </a:r>
            <a:endParaRPr sz="134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marL="127000" marR="0" lvl="0" indent="-14605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340"/>
              <a:buFont typeface="Sora"/>
              <a:buChar char="•"/>
            </a:pPr>
            <a:r>
              <a:rPr lang="en-US" sz="134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Investment in modern equipment for speed and precision.</a:t>
            </a:r>
            <a:endParaRPr sz="134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525725" y="3905773"/>
            <a:ext cx="4800600" cy="1151700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772625" y="4134364"/>
            <a:ext cx="4251900" cy="6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806"/>
              <a:buFont typeface="Sora"/>
              <a:buNone/>
            </a:pPr>
            <a:r>
              <a:rPr lang="en-US" sz="1306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Precise technical application of the guidelines: one less layer of uncertainty in the regulatory package.</a:t>
            </a:r>
            <a:endParaRPr sz="1306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205" name="Google Shape;205;p9" title="IMG_6061.jpg"/>
          <p:cNvPicPr preferRelativeResize="0"/>
          <p:nvPr/>
        </p:nvPicPr>
        <p:blipFill rotWithShape="1">
          <a:blip r:embed="rId4">
            <a:alphaModFix/>
          </a:blip>
          <a:srcRect t="21071" b="20705"/>
          <a:stretch/>
        </p:blipFill>
        <p:spPr>
          <a:xfrm>
            <a:off x="8915975" y="1207000"/>
            <a:ext cx="2269774" cy="2349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9" title="IMG_5970.jpg"/>
          <p:cNvPicPr preferRelativeResize="0"/>
          <p:nvPr/>
        </p:nvPicPr>
        <p:blipFill rotWithShape="1">
          <a:blip r:embed="rId5">
            <a:alphaModFix/>
          </a:blip>
          <a:srcRect l="16189" t="11254" r="36530" b="-1142"/>
          <a:stretch/>
        </p:blipFill>
        <p:spPr>
          <a:xfrm>
            <a:off x="8915975" y="3737588"/>
            <a:ext cx="2269773" cy="2427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9" title="IMG_5978.jpg"/>
          <p:cNvPicPr preferRelativeResize="0"/>
          <p:nvPr/>
        </p:nvPicPr>
        <p:blipFill rotWithShape="1">
          <a:blip r:embed="rId6">
            <a:alphaModFix/>
          </a:blip>
          <a:srcRect r="27405"/>
          <a:stretch/>
        </p:blipFill>
        <p:spPr>
          <a:xfrm>
            <a:off x="5653388" y="3510275"/>
            <a:ext cx="3132698" cy="2427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9" title="IMG_6027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53387" y="987549"/>
            <a:ext cx="3132698" cy="234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A43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A43"/>
          </a:solidFill>
          <a:ln w="12700" cap="flat" cmpd="sng">
            <a:solidFill>
              <a:srgbClr val="333333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Sora"/>
              <a:buNone/>
            </a:pPr>
            <a:r>
              <a:rPr lang="en-US" sz="2500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Physicochemical Laboratory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620"/>
              <a:buFont typeface="Sora"/>
              <a:buNone/>
            </a:pPr>
            <a:r>
              <a:rPr lang="en-US" sz="1120" b="1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MODERN ANALYTICAL INFRASTRUCTURE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217" name="Google Shape;217;p10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w="254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8" name="Google Shape;218;p10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A8C0D6"/>
                </a:solidFill>
                <a:latin typeface="Sora"/>
                <a:ea typeface="Sora"/>
                <a:cs typeface="Sora"/>
                <a:sym typeface="Sora"/>
              </a:rPr>
              <a:t>SCI-AGRO  •  Commercial Presentation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219" name="Google Shape;219;p10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w="203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0" name="Google Shape;220;p10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Sora"/>
              <a:buNone/>
            </a:pPr>
            <a:r>
              <a:rPr lang="en-US" sz="600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08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7513825" y="2011675"/>
            <a:ext cx="3687600" cy="10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72"/>
              <a:buFont typeface="Sora"/>
              <a:buNone/>
            </a:pPr>
            <a:r>
              <a:rPr lang="en-US" sz="1673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Equipment, team and method working as a single technical mechanism.</a:t>
            </a:r>
            <a:endParaRPr sz="1673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7513825" y="3145525"/>
            <a:ext cx="3184800" cy="9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1050"/>
              <a:buFont typeface="Sora"/>
              <a:buNone/>
            </a:pPr>
            <a:r>
              <a:rPr lang="en-US" sz="1250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An environment prepared for studies that require precision, traceability and control at every stage.</a:t>
            </a:r>
            <a:endParaRPr sz="12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223" name="Google Shape;223;p10" title="Logo-SCi-Branca-Reduzida-P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84424" y="294850"/>
            <a:ext cx="1159624" cy="585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0"/>
          <p:cNvPicPr preferRelativeResize="0"/>
          <p:nvPr/>
        </p:nvPicPr>
        <p:blipFill>
          <a:blip r:embed="rId4">
            <a:alphaModFix amt="28000"/>
          </a:blip>
          <a:stretch>
            <a:fillRect/>
          </a:stretch>
        </p:blipFill>
        <p:spPr>
          <a:xfrm>
            <a:off x="10019425" y="4916170"/>
            <a:ext cx="1051576" cy="120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0" title="IMG_5977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75575" y="4347000"/>
            <a:ext cx="3525642" cy="1983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0" title="IMG_6014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75575" y="1466075"/>
            <a:ext cx="3525652" cy="2644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0" title="IMG_6070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2921" y="1466068"/>
            <a:ext cx="2743200" cy="4876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 w="12700" cap="flat" cmpd="sng">
            <a:solidFill>
              <a:srgbClr val="333333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4" name="Google Shape;234;p11" descr="/mnt/data/Logo-Sci-Reduzida-Colorida-PN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7004" y="256032"/>
            <a:ext cx="1159609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1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2500"/>
              <a:buFont typeface="Sora"/>
              <a:buNone/>
            </a:pPr>
            <a:r>
              <a:rPr lang="en-US" sz="2500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Ecotoxicology Studies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8498"/>
              </a:buClr>
              <a:buSzPts val="620"/>
              <a:buFont typeface="Sora"/>
              <a:buNone/>
            </a:pPr>
            <a:r>
              <a:rPr lang="en-US" sz="1120" b="1">
                <a:solidFill>
                  <a:srgbClr val="6F8498"/>
                </a:solidFill>
                <a:latin typeface="Sora"/>
                <a:ea typeface="Sora"/>
                <a:cs typeface="Sora"/>
                <a:sym typeface="Sora"/>
              </a:rPr>
              <a:t>AQUATIC AND TERRESTRIAL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237" name="Google Shape;237;p11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w="254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8" name="Google Shape;238;p11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0AF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8EA0AF"/>
                </a:solidFill>
                <a:latin typeface="Sora"/>
                <a:ea typeface="Sora"/>
                <a:cs typeface="Sora"/>
                <a:sym typeface="Sora"/>
              </a:rPr>
              <a:t>SCI-AGRO  •  Commercial Presentation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239" name="Google Shape;239;p11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w="203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0" name="Google Shape;240;p11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600"/>
              <a:buFont typeface="Sora"/>
              <a:buNone/>
            </a:pPr>
            <a:r>
              <a:rPr lang="en-US" sz="600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09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502925" y="1600148"/>
            <a:ext cx="54408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127000" marR="0" lvl="0" indent="-14605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340"/>
              <a:buFont typeface="Sora"/>
              <a:buChar char="•"/>
            </a:pPr>
            <a:r>
              <a:rPr lang="en-US" sz="134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Rigorous conditioning of species according to each test guideline.</a:t>
            </a:r>
            <a:endParaRPr sz="134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marL="127000" marR="0" lvl="0" indent="-14605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340"/>
              <a:buFont typeface="Sora"/>
              <a:buChar char="•"/>
            </a:pPr>
            <a:r>
              <a:rPr lang="en-US" sz="134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Specific care in the experimental handling of each species, including bees and climate conditions.</a:t>
            </a:r>
            <a:endParaRPr sz="134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marL="127000" marR="0" lvl="0" indent="-14605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340"/>
              <a:buFont typeface="Sora"/>
              <a:buChar char="•"/>
            </a:pPr>
            <a:r>
              <a:rPr lang="en-US" sz="134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Analysis of working solutions by sensitive techniques such as LC/MS-MS, reducing questions and regulatory requirements.</a:t>
            </a:r>
            <a:endParaRPr sz="134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marL="127000" marR="0" lvl="0" indent="-14605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340"/>
              <a:buFont typeface="Sora"/>
              <a:buChar char="•"/>
            </a:pPr>
            <a:r>
              <a:rPr lang="en-US" sz="134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Non-GLP testing during the formulation development stage.</a:t>
            </a:r>
            <a:endParaRPr sz="134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242" name="Google Shape;242;p11" descr="/mnt/data/old_pptx_unzip/ppt/media/image40.jpeg"/>
          <p:cNvPicPr preferRelativeResize="0"/>
          <p:nvPr/>
        </p:nvPicPr>
        <p:blipFill rotWithShape="1">
          <a:blip r:embed="rId4">
            <a:alphaModFix/>
          </a:blip>
          <a:srcRect l="14509" r="14509"/>
          <a:stretch/>
        </p:blipFill>
        <p:spPr>
          <a:xfrm>
            <a:off x="6537960" y="1325880"/>
            <a:ext cx="2423100" cy="1920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3" name="Google Shape;243;p11" descr="/mnt/data/old_pptx_unzip/ppt/media/image41.jpeg"/>
          <p:cNvPicPr preferRelativeResize="0"/>
          <p:nvPr/>
        </p:nvPicPr>
        <p:blipFill rotWithShape="1">
          <a:blip r:embed="rId5">
            <a:alphaModFix/>
          </a:blip>
          <a:srcRect l="2679" r="2679"/>
          <a:stretch/>
        </p:blipFill>
        <p:spPr>
          <a:xfrm>
            <a:off x="9189720" y="1325880"/>
            <a:ext cx="2423100" cy="1920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4" name="Google Shape;244;p11" descr="/mnt/data/old_pptx_unzip/ppt/media/image44.jpeg"/>
          <p:cNvPicPr preferRelativeResize="0"/>
          <p:nvPr/>
        </p:nvPicPr>
        <p:blipFill rotWithShape="1">
          <a:blip r:embed="rId6">
            <a:alphaModFix/>
          </a:blip>
          <a:srcRect t="14765" b="14765"/>
          <a:stretch/>
        </p:blipFill>
        <p:spPr>
          <a:xfrm>
            <a:off x="6537960" y="3520440"/>
            <a:ext cx="5074800" cy="2011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45" name="Google Shape;245;p11"/>
          <p:cNvSpPr/>
          <p:nvPr/>
        </p:nvSpPr>
        <p:spPr>
          <a:xfrm>
            <a:off x="503000" y="3520451"/>
            <a:ext cx="5440800" cy="8271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731600" y="3712482"/>
            <a:ext cx="48645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790"/>
              <a:buFont typeface="Sora"/>
              <a:buNone/>
            </a:pPr>
            <a:r>
              <a:rPr lang="en-US" sz="1291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Detailed experimental control for technically sound biological responses.</a:t>
            </a:r>
            <a:endParaRPr sz="1591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A43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A43"/>
          </a:solidFill>
          <a:ln w="12700" cap="flat" cmpd="sng">
            <a:solidFill>
              <a:srgbClr val="333333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Sora"/>
              <a:buNone/>
            </a:pPr>
            <a:r>
              <a:rPr lang="en-US" sz="2500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Ecotoxicology Laboratory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620"/>
              <a:buFont typeface="Sora"/>
              <a:buNone/>
            </a:pPr>
            <a:r>
              <a:rPr lang="en-US" sz="1120" b="1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EXPERIMENTAL WORK WITH SENSITIVE SPECIES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255" name="Google Shape;255;p12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w="254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6" name="Google Shape;256;p12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A8C0D6"/>
                </a:solidFill>
                <a:latin typeface="Sora"/>
                <a:ea typeface="Sora"/>
                <a:cs typeface="Sora"/>
                <a:sym typeface="Sora"/>
              </a:rPr>
              <a:t>SCI-AGRO  •  Commercial Presentation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257" name="Google Shape;257;p12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w="203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8" name="Google Shape;258;p12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Sora"/>
              <a:buNone/>
            </a:pPr>
            <a:r>
              <a:rPr lang="en-US" sz="600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10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259" name="Google Shape;259;p12" descr="/mnt/data/old_pptx_unzip/ppt/media/image46.JPEG"/>
          <p:cNvPicPr preferRelativeResize="0"/>
          <p:nvPr/>
        </p:nvPicPr>
        <p:blipFill rotWithShape="1">
          <a:blip r:embed="rId3">
            <a:alphaModFix/>
          </a:blip>
          <a:srcRect l="19681" r="19681"/>
          <a:stretch/>
        </p:blipFill>
        <p:spPr>
          <a:xfrm>
            <a:off x="502935" y="1700725"/>
            <a:ext cx="3474600" cy="4297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60" name="Google Shape;260;p12"/>
          <p:cNvSpPr/>
          <p:nvPr/>
        </p:nvSpPr>
        <p:spPr>
          <a:xfrm>
            <a:off x="7818126" y="1874525"/>
            <a:ext cx="3474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Sora"/>
              <a:buNone/>
            </a:pPr>
            <a:r>
              <a:rPr lang="en-US" sz="1530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Facilities, protocols and operational care for reliable ecotoxicology studies.</a:t>
            </a:r>
            <a:endParaRPr sz="153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7818125" y="3090675"/>
            <a:ext cx="33834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1030"/>
              <a:buFont typeface="Sora"/>
              <a:buNone/>
            </a:pPr>
            <a:r>
              <a:rPr lang="en-US" sz="1230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Proper preparation and conditioning help protect the validity of the assay even before the first reading.</a:t>
            </a:r>
            <a:endParaRPr sz="123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262" name="Google Shape;262;p12" title="Logo-SCi-Branca-Reduzida-P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84424" y="294850"/>
            <a:ext cx="1159624" cy="585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2"/>
          <p:cNvPicPr preferRelativeResize="0"/>
          <p:nvPr/>
        </p:nvPicPr>
        <p:blipFill>
          <a:blip r:embed="rId5">
            <a:alphaModFix amt="28000"/>
          </a:blip>
          <a:stretch>
            <a:fillRect/>
          </a:stretch>
        </p:blipFill>
        <p:spPr>
          <a:xfrm>
            <a:off x="10019425" y="4916170"/>
            <a:ext cx="1051576" cy="120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2"/>
          <p:cNvPicPr preferRelativeResize="0"/>
          <p:nvPr/>
        </p:nvPicPr>
        <p:blipFill rotWithShape="1">
          <a:blip r:embed="rId6">
            <a:alphaModFix/>
          </a:blip>
          <a:srcRect l="27607" r="6317"/>
          <a:stretch/>
        </p:blipFill>
        <p:spPr>
          <a:xfrm>
            <a:off x="4250350" y="1508725"/>
            <a:ext cx="3279300" cy="4489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"/>
          <p:cNvSpPr/>
          <p:nvPr/>
        </p:nvSpPr>
        <p:spPr>
          <a:xfrm>
            <a:off x="9966960" y="5212080"/>
            <a:ext cx="21945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DE9F1"/>
              </a:buClr>
              <a:buSzPts val="8200"/>
              <a:buFont typeface="Sora"/>
              <a:buNone/>
            </a:pPr>
            <a:endParaRPr sz="82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271" name="Google Shape;271;p13" descr="/mnt/data/Logo-Sci-Reduzida-Colorida-PN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7004" y="256032"/>
            <a:ext cx="1159609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3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2500"/>
              <a:buFont typeface="Sora"/>
              <a:buNone/>
            </a:pPr>
            <a:r>
              <a:rPr lang="en-US" sz="2500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Genotoxicity Studies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8498"/>
              </a:buClr>
              <a:buSzPts val="620"/>
              <a:buFont typeface="Sora"/>
              <a:buNone/>
            </a:pPr>
            <a:r>
              <a:rPr lang="en-US" sz="1120" b="1">
                <a:solidFill>
                  <a:srgbClr val="6F8498"/>
                </a:solidFill>
                <a:latin typeface="Sora"/>
                <a:ea typeface="Sora"/>
                <a:cs typeface="Sora"/>
                <a:sym typeface="Sora"/>
              </a:rPr>
              <a:t>MEETING REQUIREMENTS AND OECD GUIDELINES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274" name="Google Shape;274;p13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w="254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5" name="Google Shape;275;p13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0AF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8EA0AF"/>
                </a:solidFill>
                <a:latin typeface="Sora"/>
                <a:ea typeface="Sora"/>
                <a:cs typeface="Sora"/>
                <a:sym typeface="Sora"/>
              </a:rPr>
              <a:t>SCI-AGRO  •  Commercial Presentation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276" name="Google Shape;276;p13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w="203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7" name="Google Shape;277;p13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600"/>
              <a:buFont typeface="Sora"/>
              <a:buNone/>
            </a:pPr>
            <a:r>
              <a:rPr lang="en-US" sz="600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11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278" name="Google Shape;278;p13" descr="/mnt/data/old_pptx_unzip/ppt/media/image48.png"/>
          <p:cNvPicPr preferRelativeResize="0"/>
          <p:nvPr/>
        </p:nvPicPr>
        <p:blipFill rotWithShape="1">
          <a:blip r:embed="rId4">
            <a:alphaModFix/>
          </a:blip>
          <a:srcRect l="29453" r="13709"/>
          <a:stretch/>
        </p:blipFill>
        <p:spPr>
          <a:xfrm>
            <a:off x="7635240" y="1234440"/>
            <a:ext cx="3886200" cy="4937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79" name="Google Shape;279;p13"/>
          <p:cNvSpPr/>
          <p:nvPr/>
        </p:nvSpPr>
        <p:spPr>
          <a:xfrm>
            <a:off x="502925" y="1340900"/>
            <a:ext cx="5440800" cy="14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127000" marR="0" lvl="0" indent="-16002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600"/>
              <a:buFont typeface="Sora"/>
              <a:buChar char="•"/>
            </a:pPr>
            <a:r>
              <a:rPr lang="en-US" sz="160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Studies designed to meet regulatory requirements, including OECD 490 and 476.</a:t>
            </a:r>
            <a:endParaRPr sz="17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marL="127000" marR="0" lvl="0" indent="-16002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600"/>
              <a:buFont typeface="Sora"/>
              <a:buChar char="•"/>
            </a:pPr>
            <a:r>
              <a:rPr lang="en-US" sz="160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Modern, higher-precision equipment, such as flow cytometry for micronucleus studies.</a:t>
            </a:r>
            <a:endParaRPr sz="1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502925" y="2963270"/>
            <a:ext cx="5943600" cy="530400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3"/>
          <p:cNvSpPr/>
          <p:nvPr/>
        </p:nvSpPr>
        <p:spPr>
          <a:xfrm>
            <a:off x="731525" y="3146093"/>
            <a:ext cx="10059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C63F"/>
              </a:buClr>
              <a:buSzPts val="750"/>
              <a:buFont typeface="Sora"/>
              <a:buNone/>
            </a:pPr>
            <a:r>
              <a:rPr lang="en-US" sz="950" b="1">
                <a:solidFill>
                  <a:srgbClr val="8CC63F"/>
                </a:solidFill>
                <a:latin typeface="Sora"/>
                <a:ea typeface="Sora"/>
                <a:cs typeface="Sora"/>
                <a:sym typeface="Sora"/>
              </a:rPr>
              <a:t>OECD 471</a:t>
            </a:r>
            <a:endParaRPr sz="9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1863870" y="3146111"/>
            <a:ext cx="44349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850"/>
              <a:buFont typeface="Sora"/>
              <a:buNone/>
            </a:pPr>
            <a:r>
              <a:rPr lang="en-US" sz="1050" b="1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Bacterial Reverse Mutation (Ames)</a:t>
            </a:r>
            <a:endParaRPr sz="10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502925" y="3676502"/>
            <a:ext cx="5943600" cy="530400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3"/>
          <p:cNvSpPr/>
          <p:nvPr/>
        </p:nvSpPr>
        <p:spPr>
          <a:xfrm>
            <a:off x="731525" y="3831950"/>
            <a:ext cx="10059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C63F"/>
              </a:buClr>
              <a:buSzPts val="750"/>
              <a:buFont typeface="Sora"/>
              <a:buNone/>
            </a:pPr>
            <a:r>
              <a:rPr lang="en-US" sz="950" b="1">
                <a:solidFill>
                  <a:srgbClr val="8CC63F"/>
                </a:solidFill>
                <a:latin typeface="Sora"/>
                <a:ea typeface="Sora"/>
                <a:cs typeface="Sora"/>
                <a:sym typeface="Sora"/>
              </a:rPr>
              <a:t>OECD 474</a:t>
            </a:r>
            <a:endParaRPr sz="9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1863870" y="3813593"/>
            <a:ext cx="44349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850"/>
              <a:buFont typeface="Sora"/>
              <a:buNone/>
            </a:pPr>
            <a:r>
              <a:rPr lang="en-US" sz="1050" b="1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In vivo Mammalian Erythrocyte Micronucleus</a:t>
            </a:r>
            <a:endParaRPr sz="10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502925" y="4389734"/>
            <a:ext cx="5943600" cy="530400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731525" y="4545182"/>
            <a:ext cx="10059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C63F"/>
              </a:buClr>
              <a:buSzPts val="750"/>
              <a:buFont typeface="Sora"/>
              <a:buNone/>
            </a:pPr>
            <a:r>
              <a:rPr lang="en-US" sz="950" b="1">
                <a:solidFill>
                  <a:srgbClr val="8CC63F"/>
                </a:solidFill>
                <a:latin typeface="Sora"/>
                <a:ea typeface="Sora"/>
                <a:cs typeface="Sora"/>
                <a:sym typeface="Sora"/>
              </a:rPr>
              <a:t>OECD 487</a:t>
            </a:r>
            <a:endParaRPr sz="9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1863870" y="4526825"/>
            <a:ext cx="44349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850"/>
              <a:buFont typeface="Sora"/>
              <a:buNone/>
            </a:pPr>
            <a:r>
              <a:rPr lang="en-US" sz="1050" b="1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In vitro Mammalian Cell Micronucleus</a:t>
            </a:r>
            <a:endParaRPr sz="10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502925" y="5102966"/>
            <a:ext cx="5943600" cy="530400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3"/>
          <p:cNvSpPr/>
          <p:nvPr/>
        </p:nvSpPr>
        <p:spPr>
          <a:xfrm>
            <a:off x="731525" y="5258414"/>
            <a:ext cx="10059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C63F"/>
              </a:buClr>
              <a:buSzPts val="750"/>
              <a:buFont typeface="Sora"/>
              <a:buNone/>
            </a:pPr>
            <a:r>
              <a:rPr lang="en-US" sz="950" b="1">
                <a:solidFill>
                  <a:srgbClr val="8CC63F"/>
                </a:solidFill>
                <a:latin typeface="Sora"/>
                <a:ea typeface="Sora"/>
                <a:cs typeface="Sora"/>
                <a:sym typeface="Sora"/>
              </a:rPr>
              <a:t>OECD 476 / 490</a:t>
            </a:r>
            <a:endParaRPr sz="9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1863870" y="5240057"/>
            <a:ext cx="44349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850"/>
              <a:buFont typeface="Sora"/>
              <a:buNone/>
            </a:pPr>
            <a:r>
              <a:rPr lang="en-US" sz="1050" b="1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In vitro Mammalian Cell Gene Mutation</a:t>
            </a:r>
            <a:endParaRPr sz="10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A43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A43"/>
          </a:solidFill>
          <a:ln w="12700" cap="flat" cmpd="sng">
            <a:solidFill>
              <a:srgbClr val="333333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4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Sora"/>
              <a:buNone/>
            </a:pPr>
            <a:r>
              <a:rPr lang="en-US" sz="2500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Genotoxicity Laboratory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620"/>
              <a:buFont typeface="Sora"/>
              <a:buNone/>
            </a:pPr>
            <a:r>
              <a:rPr lang="en-US" sz="1120" b="1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PRECISION IN CELLULAR AND MOLECULAR STUDIES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300" name="Google Shape;300;p14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w="254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1" name="Google Shape;301;p14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A8C0D6"/>
                </a:solidFill>
                <a:latin typeface="Sora"/>
                <a:ea typeface="Sora"/>
                <a:cs typeface="Sora"/>
                <a:sym typeface="Sora"/>
              </a:rPr>
              <a:t>SCI-AGRO  •  Commercial Presentation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302" name="Google Shape;302;p14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w="203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3" name="Google Shape;303;p14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Sora"/>
              <a:buNone/>
            </a:pPr>
            <a:r>
              <a:rPr lang="en-US" sz="600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12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304" name="Google Shape;304;p14" descr="/mnt/data/old_pptx_unzip/ppt/media/image47.jpeg"/>
          <p:cNvPicPr preferRelativeResize="0"/>
          <p:nvPr/>
        </p:nvPicPr>
        <p:blipFill rotWithShape="1">
          <a:blip r:embed="rId3">
            <a:alphaModFix/>
          </a:blip>
          <a:srcRect l="18941" r="18937"/>
          <a:stretch/>
        </p:blipFill>
        <p:spPr>
          <a:xfrm>
            <a:off x="502935" y="1641355"/>
            <a:ext cx="3749100" cy="4526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05" name="Google Shape;305;p14" descr="/mnt/data/old_pptx_unzip/ppt/media/image51.jpeg"/>
          <p:cNvPicPr preferRelativeResize="0"/>
          <p:nvPr/>
        </p:nvPicPr>
        <p:blipFill rotWithShape="1">
          <a:blip r:embed="rId4">
            <a:alphaModFix/>
          </a:blip>
          <a:srcRect l="12508" r="12502"/>
          <a:stretch/>
        </p:blipFill>
        <p:spPr>
          <a:xfrm>
            <a:off x="4553727" y="1641355"/>
            <a:ext cx="2743200" cy="2057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06" name="Google Shape;306;p14" descr="/mnt/data/old_pptx_unzip/ppt/media/image49.png"/>
          <p:cNvPicPr preferRelativeResize="0"/>
          <p:nvPr/>
        </p:nvPicPr>
        <p:blipFill rotWithShape="1">
          <a:blip r:embed="rId5">
            <a:alphaModFix/>
          </a:blip>
          <a:srcRect l="2731" r="2731"/>
          <a:stretch/>
        </p:blipFill>
        <p:spPr>
          <a:xfrm>
            <a:off x="4553727" y="3991363"/>
            <a:ext cx="2743200" cy="2176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07" name="Google Shape;307;p14"/>
          <p:cNvSpPr/>
          <p:nvPr/>
        </p:nvSpPr>
        <p:spPr>
          <a:xfrm>
            <a:off x="8001000" y="2103125"/>
            <a:ext cx="3354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6"/>
              <a:buFont typeface="Sora"/>
              <a:buNone/>
            </a:pPr>
            <a:r>
              <a:rPr lang="en-US" sz="1556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A technical environment prepared for studies requiring repeatability, standardization and precise readings.</a:t>
            </a:r>
            <a:endParaRPr sz="1556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8001000" y="3337565"/>
            <a:ext cx="32457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1020"/>
              <a:buFont typeface="Sora"/>
              <a:buNone/>
            </a:pPr>
            <a:r>
              <a:rPr lang="en-US" sz="1220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The combination of method, instrumentation and team reduces the margin of uncertainty in critical assessments.</a:t>
            </a:r>
            <a:endParaRPr sz="12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309" name="Google Shape;309;p14" title="Logo-SCi-Branca-Reduzida-PNG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84424" y="294850"/>
            <a:ext cx="1159624" cy="585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4"/>
          <p:cNvPicPr preferRelativeResize="0"/>
          <p:nvPr/>
        </p:nvPicPr>
        <p:blipFill>
          <a:blip r:embed="rId7">
            <a:alphaModFix amt="28000"/>
          </a:blip>
          <a:stretch>
            <a:fillRect/>
          </a:stretch>
        </p:blipFill>
        <p:spPr>
          <a:xfrm>
            <a:off x="10019425" y="4916170"/>
            <a:ext cx="1051576" cy="120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 w="12700" cap="flat" cmpd="sng">
            <a:solidFill>
              <a:srgbClr val="333333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7" name="Google Shape;317;p15" descr="/mnt/data/Logo-Sci-Reduzida-Colorida-PN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7004" y="256032"/>
            <a:ext cx="1159609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5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2500"/>
              <a:buFont typeface="Sora"/>
              <a:buNone/>
            </a:pPr>
            <a:r>
              <a:rPr lang="en-US" sz="2500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In vitro Toxicology Studies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8498"/>
              </a:buClr>
              <a:buSzPts val="620"/>
              <a:buFont typeface="Sora"/>
              <a:buNone/>
            </a:pPr>
            <a:r>
              <a:rPr lang="en-US" sz="1120" b="1">
                <a:solidFill>
                  <a:srgbClr val="6F8498"/>
                </a:solidFill>
                <a:latin typeface="Sora"/>
                <a:ea typeface="Sora"/>
                <a:cs typeface="Sora"/>
                <a:sym typeface="Sora"/>
              </a:rPr>
              <a:t>TECHNICAL EXPANSION ALIGNED WITH CONCEA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320" name="Google Shape;320;p15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w="254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1" name="Google Shape;321;p15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0AF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8EA0AF"/>
                </a:solidFill>
                <a:latin typeface="Sora"/>
                <a:ea typeface="Sora"/>
                <a:cs typeface="Sora"/>
                <a:sym typeface="Sora"/>
              </a:rPr>
              <a:t>SCI-AGRO  •  Commercial Presentation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322" name="Google Shape;322;p15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w="203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3" name="Google Shape;323;p15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600"/>
              <a:buFont typeface="Sora"/>
              <a:buNone/>
            </a:pPr>
            <a:r>
              <a:rPr lang="en-US" sz="600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13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502875" y="1621300"/>
            <a:ext cx="6076500" cy="20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1270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440"/>
              <a:buFont typeface="Sora"/>
              <a:buChar char="•"/>
            </a:pPr>
            <a:r>
              <a:rPr lang="en-US" sz="144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Expanding in vitro toxicology, implementing new test guidelines as they are recognized by CONCEA (Brazil's national animal research council).</a:t>
            </a:r>
            <a:endParaRPr sz="144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marL="1270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440"/>
              <a:buFont typeface="Sora"/>
              <a:buChar char="•"/>
            </a:pPr>
            <a:r>
              <a:rPr lang="en-US" sz="144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Includes guidelines such as 492B and 442D.</a:t>
            </a:r>
            <a:endParaRPr sz="144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marL="1270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440"/>
              <a:buFont typeface="Sora"/>
              <a:buChar char="•"/>
            </a:pPr>
            <a:r>
              <a:rPr lang="en-US" sz="144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IATA (Integrated Approaches to Testing and Assessment).</a:t>
            </a:r>
            <a:endParaRPr sz="144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marL="1270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440"/>
              <a:buFont typeface="Sora"/>
              <a:buChar char="•"/>
            </a:pPr>
            <a:r>
              <a:rPr lang="en-US" sz="144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Successful acceptance of OECD 490 studies for Phase II of a technical product.</a:t>
            </a:r>
            <a:endParaRPr sz="144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5" name="Google Shape;325;p15"/>
          <p:cNvSpPr/>
          <p:nvPr/>
        </p:nvSpPr>
        <p:spPr>
          <a:xfrm>
            <a:off x="502863" y="3962132"/>
            <a:ext cx="5989200" cy="7131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5"/>
          <p:cNvSpPr/>
          <p:nvPr/>
        </p:nvSpPr>
        <p:spPr>
          <a:xfrm>
            <a:off x="715825" y="4132909"/>
            <a:ext cx="5349300" cy="3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943"/>
              <a:buFont typeface="Sora"/>
              <a:buNone/>
            </a:pPr>
            <a:r>
              <a:rPr lang="en-US" sz="1244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Less reliance on in vivo models and greater technical speed whenever the guideline allows.</a:t>
            </a:r>
            <a:endParaRPr sz="1244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327" name="Google Shape;32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7400" y="1206995"/>
            <a:ext cx="4968000" cy="3726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A43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A43"/>
          </a:solidFill>
          <a:ln w="12700" cap="flat" cmpd="sng">
            <a:solidFill>
              <a:srgbClr val="333333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6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Sora"/>
              <a:buNone/>
            </a:pPr>
            <a:r>
              <a:rPr lang="en-US" sz="2500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In vitro Toxicology Laboratory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620"/>
              <a:buFont typeface="Sora"/>
              <a:buNone/>
            </a:pPr>
            <a:r>
              <a:rPr lang="en-US" sz="1120" b="1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NEW GUIDELINES, NEW MODELS, GREATER EFFICIENCY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336" name="Google Shape;336;p16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w="254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7" name="Google Shape;337;p16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A8C0D6"/>
                </a:solidFill>
                <a:latin typeface="Sora"/>
                <a:ea typeface="Sora"/>
                <a:cs typeface="Sora"/>
                <a:sym typeface="Sora"/>
              </a:rPr>
              <a:t>SCI-AGRO  •  Commercial Presentation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338" name="Google Shape;338;p16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w="203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9" name="Google Shape;339;p16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Sora"/>
              <a:buNone/>
            </a:pPr>
            <a:r>
              <a:rPr lang="en-US" sz="600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14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340" name="Google Shape;340;p16" descr="/mnt/data/old_pptx_unzip/ppt/media/image56.png"/>
          <p:cNvPicPr preferRelativeResize="0"/>
          <p:nvPr/>
        </p:nvPicPr>
        <p:blipFill rotWithShape="1">
          <a:blip r:embed="rId3">
            <a:alphaModFix/>
          </a:blip>
          <a:srcRect l="4077" r="4077"/>
          <a:stretch/>
        </p:blipFill>
        <p:spPr>
          <a:xfrm>
            <a:off x="502935" y="1655030"/>
            <a:ext cx="3886200" cy="2057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41" name="Google Shape;341;p16" descr="/mnt/data/old_pptx_unzip/ppt/media/image54.png"/>
          <p:cNvPicPr preferRelativeResize="0"/>
          <p:nvPr/>
        </p:nvPicPr>
        <p:blipFill rotWithShape="1">
          <a:blip r:embed="rId4">
            <a:alphaModFix/>
          </a:blip>
          <a:srcRect t="13147" b="13147"/>
          <a:stretch/>
        </p:blipFill>
        <p:spPr>
          <a:xfrm>
            <a:off x="502935" y="4005038"/>
            <a:ext cx="3886200" cy="2148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42" name="Google Shape;342;p16"/>
          <p:cNvSpPr/>
          <p:nvPr/>
        </p:nvSpPr>
        <p:spPr>
          <a:xfrm>
            <a:off x="8138148" y="1965950"/>
            <a:ext cx="3310500" cy="9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12"/>
              <a:buFont typeface="Sora"/>
              <a:buNone/>
            </a:pPr>
            <a:r>
              <a:rPr lang="en-US" sz="1513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A growing area for faster studies, with technical rigor and alignment with good practices.</a:t>
            </a:r>
            <a:endParaRPr sz="1513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3" name="Google Shape;343;p16"/>
          <p:cNvSpPr/>
          <p:nvPr/>
        </p:nvSpPr>
        <p:spPr>
          <a:xfrm>
            <a:off x="8138148" y="3401569"/>
            <a:ext cx="33105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1010"/>
              <a:buFont typeface="Sora"/>
              <a:buNone/>
            </a:pPr>
            <a:r>
              <a:rPr lang="en-US" sz="1010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The expansion of in vitro work follows regulatory developments and the search for technically accepted alternatives.</a:t>
            </a:r>
            <a:endParaRPr sz="101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344" name="Google Shape;344;p16" title="Logo-SCi-Branca-Reduzida-PN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84424" y="294850"/>
            <a:ext cx="1159624" cy="585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6"/>
          <p:cNvPicPr preferRelativeResize="0"/>
          <p:nvPr/>
        </p:nvPicPr>
        <p:blipFill>
          <a:blip r:embed="rId6">
            <a:alphaModFix amt="28000"/>
          </a:blip>
          <a:stretch>
            <a:fillRect/>
          </a:stretch>
        </p:blipFill>
        <p:spPr>
          <a:xfrm>
            <a:off x="10019425" y="4916170"/>
            <a:ext cx="1051576" cy="120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77125" y="1965958"/>
            <a:ext cx="2837449" cy="3783265"/>
          </a:xfrm>
          <a:prstGeom prst="rect">
            <a:avLst/>
          </a:prstGeom>
          <a:solidFill>
            <a:srgbClr val="062A43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 w="12700" cap="flat" cmpd="sng">
            <a:solidFill>
              <a:srgbClr val="333333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3" name="Google Shape;353;p17" descr="/mnt/data/Logo-Sci-Reduzida-Colorida-PN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7004" y="256032"/>
            <a:ext cx="1159609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7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2500"/>
              <a:buFont typeface="Sora"/>
              <a:buNone/>
            </a:pPr>
            <a:r>
              <a:rPr lang="en-US" sz="2500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Microbiology Studies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8498"/>
              </a:buClr>
              <a:buSzPts val="620"/>
              <a:buFont typeface="Sora"/>
              <a:buNone/>
            </a:pPr>
            <a:r>
              <a:rPr lang="en-US" sz="1120" b="1">
                <a:solidFill>
                  <a:srgbClr val="6F8498"/>
                </a:solidFill>
                <a:latin typeface="Sora"/>
                <a:ea typeface="Sora"/>
                <a:cs typeface="Sora"/>
                <a:sym typeface="Sora"/>
              </a:rPr>
              <a:t>MICROBIOLOGICAL SAFETY OF THE PRODUCT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356" name="Google Shape;356;p17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w="254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7" name="Google Shape;357;p17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0AF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8EA0AF"/>
                </a:solidFill>
                <a:latin typeface="Sora"/>
                <a:ea typeface="Sora"/>
                <a:cs typeface="Sora"/>
                <a:sym typeface="Sora"/>
              </a:rPr>
              <a:t>SCI-AGRO  •  Commercial Presentation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358" name="Google Shape;358;p17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w="203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9" name="Google Shape;359;p17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600"/>
              <a:buFont typeface="Sora"/>
              <a:buNone/>
            </a:pPr>
            <a:r>
              <a:rPr lang="en-US" sz="600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15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502925" y="1582451"/>
            <a:ext cx="5852100" cy="16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1270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420"/>
              <a:buFont typeface="Sora"/>
              <a:buChar char="•"/>
            </a:pPr>
            <a:r>
              <a:rPr lang="en-US" sz="142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SCI-AGRO performs microbiological analyses to assess the presence and behavior of microorganisms in different matrices, contributing to product quality and compliance with regulatory requirements.</a:t>
            </a:r>
            <a:endParaRPr sz="14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1" name="Google Shape;361;p17"/>
          <p:cNvSpPr/>
          <p:nvPr/>
        </p:nvSpPr>
        <p:spPr>
          <a:xfrm>
            <a:off x="502900" y="3657105"/>
            <a:ext cx="5852100" cy="786300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7"/>
          <p:cNvSpPr/>
          <p:nvPr/>
        </p:nvSpPr>
        <p:spPr>
          <a:xfrm>
            <a:off x="731500" y="3894848"/>
            <a:ext cx="5257800" cy="44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943"/>
              <a:buFont typeface="Sora"/>
              <a:buNone/>
            </a:pPr>
            <a:r>
              <a:rPr lang="en-US" sz="944" b="1" dirty="0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Microbiology applied to safety and compliance</a:t>
            </a:r>
            <a:endParaRPr sz="944" dirty="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363" name="Google Shape;36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9400" y="841250"/>
            <a:ext cx="3937200" cy="531390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A43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62A43"/>
          </a:solidFill>
          <a:ln w="12700" cap="flat" cmpd="sng">
            <a:solidFill>
              <a:srgbClr val="333333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8"/>
          <p:cNvSpPr/>
          <p:nvPr/>
        </p:nvSpPr>
        <p:spPr>
          <a:xfrm>
            <a:off x="502920" y="512064"/>
            <a:ext cx="65838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Sora"/>
              <a:buNone/>
            </a:pPr>
            <a:r>
              <a:rPr lang="en-US" sz="2500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Microbiology Laboratory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502920" y="1005840"/>
            <a:ext cx="62178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620"/>
              <a:buFont typeface="Sora"/>
              <a:buNone/>
            </a:pPr>
            <a:r>
              <a:rPr lang="en-US" sz="1120" b="1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CULTURE, ISOLATION AND COUNTING UNDER CONTROL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372" name="Google Shape;372;p18"/>
          <p:cNvCxnSpPr/>
          <p:nvPr/>
        </p:nvCxnSpPr>
        <p:spPr>
          <a:xfrm>
            <a:off x="502920" y="1316736"/>
            <a:ext cx="502800" cy="0"/>
          </a:xfrm>
          <a:prstGeom prst="straightConnector1">
            <a:avLst/>
          </a:prstGeom>
          <a:noFill/>
          <a:ln w="254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3" name="Google Shape;373;p18"/>
          <p:cNvSpPr/>
          <p:nvPr/>
        </p:nvSpPr>
        <p:spPr>
          <a:xfrm>
            <a:off x="347472" y="6492240"/>
            <a:ext cx="27432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A8C0D6"/>
                </a:solidFill>
                <a:latin typeface="Sora"/>
                <a:ea typeface="Sora"/>
                <a:cs typeface="Sora"/>
                <a:sym typeface="Sora"/>
              </a:rPr>
              <a:t>SCI-AGRO  •  Commercial Presentation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374" name="Google Shape;374;p18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w="203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5" name="Google Shape;375;p18"/>
          <p:cNvSpPr/>
          <p:nvPr/>
        </p:nvSpPr>
        <p:spPr>
          <a:xfrm>
            <a:off x="11283696" y="6473952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Sora"/>
              <a:buNone/>
            </a:pPr>
            <a:r>
              <a:rPr lang="en-US" sz="600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16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6" name="Google Shape;376;p18"/>
          <p:cNvSpPr/>
          <p:nvPr/>
        </p:nvSpPr>
        <p:spPr>
          <a:xfrm>
            <a:off x="6754625" y="1555100"/>
            <a:ext cx="5101200" cy="26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457200" marR="0" lvl="0" indent="-32467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13"/>
              <a:buFont typeface="Sora"/>
              <a:buChar char="●"/>
            </a:pPr>
            <a:r>
              <a:rPr lang="en-US" sz="1513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Assessment of the presence and behavior of microorganisms in different matrices;</a:t>
            </a:r>
            <a:endParaRPr sz="1513" b="1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13" b="1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marR="0" lvl="0" indent="-32467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13"/>
              <a:buFont typeface="Sora"/>
              <a:buChar char="●"/>
            </a:pPr>
            <a:r>
              <a:rPr lang="en-US" sz="1513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Assays conducted to support quality control and product safety;</a:t>
            </a:r>
            <a:endParaRPr sz="1513" b="1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13" b="1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marR="0" lvl="0" indent="-32467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13"/>
              <a:buFont typeface="Sora"/>
              <a:buChar char="●"/>
            </a:pPr>
            <a:r>
              <a:rPr lang="en-US" sz="1513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Infrastructure prepared for specific studies, including the Ames test with Salmonella to assess mutagenic potential.</a:t>
            </a:r>
            <a:endParaRPr sz="1513" b="1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7" name="Google Shape;377;p18"/>
          <p:cNvSpPr/>
          <p:nvPr/>
        </p:nvSpPr>
        <p:spPr>
          <a:xfrm>
            <a:off x="6923744" y="4059175"/>
            <a:ext cx="43599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1010"/>
              <a:buFont typeface="Sora"/>
              <a:buNone/>
            </a:pPr>
            <a:r>
              <a:rPr lang="en-US" sz="1010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Reliable microbiological data support safer decisions, regulatory compliance and responsible product development.</a:t>
            </a:r>
            <a:endParaRPr sz="101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378" name="Google Shape;378;p18" title="Logo-SCi-Branca-Reduzida-P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84424" y="294850"/>
            <a:ext cx="1159624" cy="585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18"/>
          <p:cNvPicPr preferRelativeResize="0"/>
          <p:nvPr/>
        </p:nvPicPr>
        <p:blipFill>
          <a:blip r:embed="rId4">
            <a:alphaModFix amt="28000"/>
          </a:blip>
          <a:stretch>
            <a:fillRect/>
          </a:stretch>
        </p:blipFill>
        <p:spPr>
          <a:xfrm>
            <a:off x="10019425" y="4916170"/>
            <a:ext cx="1051576" cy="120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18"/>
          <p:cNvPicPr preferRelativeResize="0"/>
          <p:nvPr/>
        </p:nvPicPr>
        <p:blipFill rotWithShape="1">
          <a:blip r:embed="rId5">
            <a:alphaModFix/>
          </a:blip>
          <a:srcRect t="31601"/>
          <a:stretch/>
        </p:blipFill>
        <p:spPr>
          <a:xfrm>
            <a:off x="3963722" y="3661076"/>
            <a:ext cx="2547600" cy="2364900"/>
          </a:xfrm>
          <a:prstGeom prst="roundRect">
            <a:avLst>
              <a:gd name="adj" fmla="val 16667"/>
            </a:avLst>
          </a:prstGeom>
          <a:noFill/>
          <a:ln w="72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81" name="Google Shape;381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72863" y="1555107"/>
            <a:ext cx="2529300" cy="1935000"/>
          </a:xfrm>
          <a:prstGeom prst="roundRect">
            <a:avLst>
              <a:gd name="adj" fmla="val 16667"/>
            </a:avLst>
          </a:prstGeom>
          <a:solidFill>
            <a:srgbClr val="062A43"/>
          </a:solidFill>
          <a:ln w="96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82" name="Google Shape;382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2925" y="1648775"/>
            <a:ext cx="3217500" cy="4377300"/>
          </a:xfrm>
          <a:prstGeom prst="roundRect">
            <a:avLst>
              <a:gd name="adj" fmla="val 16667"/>
            </a:avLst>
          </a:prstGeom>
          <a:solidFill>
            <a:srgbClr val="062A43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9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5F8FB"/>
          </a:solidFill>
          <a:ln w="12700" cap="flat" cmpd="sng">
            <a:solidFill>
              <a:srgbClr val="333333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9" name="Google Shape;389;p19" descr="/mnt/data/Logo-Sci-Reduzida-Colorida-PN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7004" y="256032"/>
            <a:ext cx="1159609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9"/>
          <p:cNvSpPr/>
          <p:nvPr/>
        </p:nvSpPr>
        <p:spPr>
          <a:xfrm>
            <a:off x="502920" y="512064"/>
            <a:ext cx="65838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2500"/>
              <a:buFont typeface="Sora"/>
              <a:buNone/>
            </a:pPr>
            <a:r>
              <a:rPr lang="en-US" sz="2500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In vivo Toxicology Studies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1" name="Google Shape;391;p19"/>
          <p:cNvSpPr/>
          <p:nvPr/>
        </p:nvSpPr>
        <p:spPr>
          <a:xfrm>
            <a:off x="502920" y="1005840"/>
            <a:ext cx="62178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8498"/>
              </a:buClr>
              <a:buSzPts val="620"/>
              <a:buFont typeface="Sora"/>
              <a:buNone/>
            </a:pPr>
            <a:r>
              <a:rPr lang="en-US" sz="1120" b="1">
                <a:solidFill>
                  <a:srgbClr val="6F8498"/>
                </a:solidFill>
                <a:latin typeface="Sora"/>
                <a:ea typeface="Sora"/>
                <a:cs typeface="Sora"/>
                <a:sym typeface="Sora"/>
              </a:rPr>
              <a:t>RELIABILITY, CONTROL AND ETHICAL RESPONSIBILITY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392" name="Google Shape;392;p19"/>
          <p:cNvCxnSpPr/>
          <p:nvPr/>
        </p:nvCxnSpPr>
        <p:spPr>
          <a:xfrm>
            <a:off x="502920" y="1316736"/>
            <a:ext cx="502800" cy="0"/>
          </a:xfrm>
          <a:prstGeom prst="straightConnector1">
            <a:avLst/>
          </a:prstGeom>
          <a:noFill/>
          <a:ln w="254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3" name="Google Shape;393;p19"/>
          <p:cNvSpPr/>
          <p:nvPr/>
        </p:nvSpPr>
        <p:spPr>
          <a:xfrm>
            <a:off x="347472" y="6492240"/>
            <a:ext cx="27432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0AF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8EA0AF"/>
                </a:solidFill>
                <a:latin typeface="Sora"/>
                <a:ea typeface="Sora"/>
                <a:cs typeface="Sora"/>
                <a:sym typeface="Sora"/>
              </a:rPr>
              <a:t>SCI-AGRO  •  Commercial Presentation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394" name="Google Shape;394;p19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w="203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5" name="Google Shape;395;p19"/>
          <p:cNvSpPr/>
          <p:nvPr/>
        </p:nvSpPr>
        <p:spPr>
          <a:xfrm>
            <a:off x="11283696" y="6473952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600"/>
              <a:buFont typeface="Sora"/>
              <a:buNone/>
            </a:pPr>
            <a:r>
              <a:rPr lang="en-US" sz="600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17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19"/>
          <p:cNvSpPr/>
          <p:nvPr/>
        </p:nvSpPr>
        <p:spPr>
          <a:xfrm>
            <a:off x="502925" y="1582451"/>
            <a:ext cx="5852100" cy="16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1270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420"/>
              <a:buFont typeface="Sora"/>
              <a:buChar char="•"/>
            </a:pPr>
            <a:r>
              <a:rPr lang="en-US" sz="142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Reduction in the number of in vivo studies: ocular, dermal and micronucleus.</a:t>
            </a:r>
            <a:endParaRPr sz="14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marL="1270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420"/>
              <a:buFont typeface="Sora"/>
              <a:buChar char="•"/>
            </a:pPr>
            <a:r>
              <a:rPr lang="en-US" sz="142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Modern animal facility with an appropriate air exchange system and clean rooms, preventing external contamination.</a:t>
            </a:r>
            <a:endParaRPr sz="14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marL="1270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420"/>
              <a:buFont typeface="Sora"/>
              <a:buChar char="•"/>
            </a:pPr>
            <a:r>
              <a:rPr lang="en-US" sz="142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SCI-AGRO CEUA (institutional animal care and use committee): tests reviewed and approved to minimize animal suffering.</a:t>
            </a:r>
            <a:endParaRPr sz="14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marL="1270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420"/>
              <a:buFont typeface="Sora"/>
              <a:buChar char="•"/>
            </a:pPr>
            <a:r>
              <a:rPr lang="en-US" sz="142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Registered with CONCEA.</a:t>
            </a:r>
            <a:endParaRPr sz="14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7" name="Google Shape;397;p19"/>
          <p:cNvSpPr/>
          <p:nvPr/>
        </p:nvSpPr>
        <p:spPr>
          <a:xfrm>
            <a:off x="502900" y="3657105"/>
            <a:ext cx="5852100" cy="786300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9"/>
          <p:cNvSpPr/>
          <p:nvPr/>
        </p:nvSpPr>
        <p:spPr>
          <a:xfrm>
            <a:off x="731500" y="3894849"/>
            <a:ext cx="52578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943"/>
              <a:buFont typeface="Sora"/>
              <a:buNone/>
            </a:pPr>
            <a:r>
              <a:rPr lang="en-US" sz="1444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Environmental control and ethical responsibility are part of the reliability of the result.</a:t>
            </a:r>
            <a:endParaRPr sz="1444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399" name="Google Shape;39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2800" y="841251"/>
            <a:ext cx="4050900" cy="540150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A43"/>
        </a:solidFill>
        <a:effectLst/>
      </p:bgPr>
    </p:bg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A43"/>
          </a:solidFill>
          <a:ln w="12700" cap="flat" cmpd="sng">
            <a:solidFill>
              <a:srgbClr val="333333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0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Sora"/>
              <a:buNone/>
            </a:pPr>
            <a:r>
              <a:rPr lang="en-US" sz="2500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In vivo Toxicology Laboratory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7" name="Google Shape;407;p20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620"/>
              <a:buFont typeface="Sora"/>
              <a:buNone/>
            </a:pPr>
            <a:r>
              <a:rPr lang="en-US" sz="1120" b="1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CONTROLLED ENVIRONMENTS FOR CRITICAL STUDIES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408" name="Google Shape;408;p20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w="254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9" name="Google Shape;409;p20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A8C0D6"/>
                </a:solidFill>
                <a:latin typeface="Sora"/>
                <a:ea typeface="Sora"/>
                <a:cs typeface="Sora"/>
                <a:sym typeface="Sora"/>
              </a:rPr>
              <a:t>SCI-AGRO  •  Commercial Presentation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410" name="Google Shape;410;p20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w="203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1" name="Google Shape;411;p20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Sora"/>
              <a:buNone/>
            </a:pPr>
            <a:r>
              <a:rPr lang="en-US" sz="600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18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2" name="Google Shape;412;p20"/>
          <p:cNvSpPr/>
          <p:nvPr/>
        </p:nvSpPr>
        <p:spPr>
          <a:xfrm>
            <a:off x="8247725" y="1556975"/>
            <a:ext cx="3638100" cy="12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7"/>
              <a:buFont typeface="Sora"/>
              <a:buNone/>
            </a:pPr>
            <a:r>
              <a:rPr lang="en-US" sz="1758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Rooms, animal facility and operational flow designed to reduce external variables.</a:t>
            </a:r>
            <a:endParaRPr sz="1758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3" name="Google Shape;413;p20"/>
          <p:cNvSpPr/>
          <p:nvPr/>
        </p:nvSpPr>
        <p:spPr>
          <a:xfrm>
            <a:off x="8247725" y="2761475"/>
            <a:ext cx="3310200" cy="8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1020"/>
              <a:buFont typeface="Sora"/>
              <a:buNone/>
            </a:pPr>
            <a:r>
              <a:rPr lang="en-US" sz="1020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The routine combines controlled infrastructure, ethical approval and documented traceability.</a:t>
            </a:r>
            <a:endParaRPr sz="10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414" name="Google Shape;414;p20" title="Logo-SCi-Branca-Reduzida-P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84424" y="294850"/>
            <a:ext cx="1159624" cy="585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0"/>
          <p:cNvPicPr preferRelativeResize="0"/>
          <p:nvPr/>
        </p:nvPicPr>
        <p:blipFill>
          <a:blip r:embed="rId4">
            <a:alphaModFix amt="28000"/>
          </a:blip>
          <a:stretch>
            <a:fillRect/>
          </a:stretch>
        </p:blipFill>
        <p:spPr>
          <a:xfrm>
            <a:off x="10019425" y="4916170"/>
            <a:ext cx="1051576" cy="120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21925" y="1858551"/>
            <a:ext cx="2618400" cy="3491100"/>
          </a:xfrm>
          <a:prstGeom prst="roundRect">
            <a:avLst>
              <a:gd name="adj" fmla="val 16667"/>
            </a:avLst>
          </a:prstGeom>
          <a:solidFill>
            <a:srgbClr val="062A43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17" name="Google Shape;41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7475" y="1858548"/>
            <a:ext cx="4654800" cy="3491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 w="12700" cap="flat" cmpd="sng">
            <a:solidFill>
              <a:srgbClr val="333333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4" name="Google Shape;424;p21" descr="/mnt/data/Logo-Sci-Reduzida-Colorida-PN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7004" y="256032"/>
            <a:ext cx="1159609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1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2500"/>
              <a:buFont typeface="Sora"/>
              <a:buNone/>
            </a:pPr>
            <a:r>
              <a:rPr lang="en-US" sz="2500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Pesticide Residue Studies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26" name="Google Shape;426;p21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8498"/>
              </a:buClr>
              <a:buSzPts val="620"/>
              <a:buFont typeface="Sora"/>
              <a:buNone/>
            </a:pPr>
            <a:r>
              <a:rPr lang="en-US" sz="1120" b="1">
                <a:solidFill>
                  <a:srgbClr val="6F8498"/>
                </a:solidFill>
                <a:latin typeface="Sora"/>
                <a:ea typeface="Sora"/>
                <a:cs typeface="Sora"/>
                <a:sym typeface="Sora"/>
              </a:rPr>
              <a:t>ANALYTICAL PHASE WITH STATE-OF-THE-ART TECHNOLOGY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427" name="Google Shape;427;p21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w="254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8" name="Google Shape;428;p21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0AF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8EA0AF"/>
                </a:solidFill>
                <a:latin typeface="Sora"/>
                <a:ea typeface="Sora"/>
                <a:cs typeface="Sora"/>
                <a:sym typeface="Sora"/>
              </a:rPr>
              <a:t>SCI-AGRO  •  Commercial Presentation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429" name="Google Shape;429;p21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w="203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0" name="Google Shape;430;p21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600"/>
              <a:buFont typeface="Sora"/>
              <a:buNone/>
            </a:pPr>
            <a:r>
              <a:rPr lang="en-US" sz="600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19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431" name="Google Shape;431;p21" descr="/mnt/data/old_pptx_unzip/ppt/media/image66.png"/>
          <p:cNvPicPr preferRelativeResize="0"/>
          <p:nvPr/>
        </p:nvPicPr>
        <p:blipFill rotWithShape="1">
          <a:blip r:embed="rId4">
            <a:alphaModFix/>
          </a:blip>
          <a:srcRect r="31585"/>
          <a:stretch/>
        </p:blipFill>
        <p:spPr>
          <a:xfrm>
            <a:off x="7543800" y="1143000"/>
            <a:ext cx="3977700" cy="5166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32" name="Google Shape;432;p21"/>
          <p:cNvSpPr/>
          <p:nvPr/>
        </p:nvSpPr>
        <p:spPr>
          <a:xfrm>
            <a:off x="502925" y="1645900"/>
            <a:ext cx="6035100" cy="17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127000" marR="0" lvl="0" indent="-13970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250"/>
              <a:buFont typeface="Sora"/>
              <a:buChar char="•"/>
            </a:pPr>
            <a:r>
              <a:rPr lang="en-US" sz="125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Analytical phase of residue studies.</a:t>
            </a:r>
            <a:endParaRPr sz="12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marL="127000" marR="0" lvl="0" indent="-13970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250"/>
              <a:buFont typeface="Sora"/>
              <a:buChar char="•"/>
            </a:pPr>
            <a:r>
              <a:rPr lang="en-US" sz="125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Professionals experienced in method development, validation and analytical conduct.</a:t>
            </a:r>
            <a:endParaRPr sz="12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marL="127000" marR="0" lvl="0" indent="-13970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250"/>
              <a:buFont typeface="Sora"/>
              <a:buChar char="•"/>
            </a:pPr>
            <a:r>
              <a:rPr lang="en-US" sz="125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State-of-the-art equipment: liquid chromatography (LC/MS-MS) and gas chromatography (GC/MS).</a:t>
            </a:r>
            <a:endParaRPr sz="12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marL="127000" marR="0" lvl="0" indent="-13970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250"/>
              <a:buFont typeface="Sora"/>
              <a:buChar char="•"/>
            </a:pPr>
            <a:r>
              <a:rPr lang="en-US" sz="125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Able to act as Principal Investigator or Study Director.</a:t>
            </a:r>
            <a:endParaRPr sz="12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33" name="Google Shape;433;p21"/>
          <p:cNvSpPr/>
          <p:nvPr/>
        </p:nvSpPr>
        <p:spPr>
          <a:xfrm>
            <a:off x="502950" y="4162000"/>
            <a:ext cx="6035100" cy="749700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1"/>
          <p:cNvSpPr/>
          <p:nvPr/>
        </p:nvSpPr>
        <p:spPr>
          <a:xfrm>
            <a:off x="731550" y="4399754"/>
            <a:ext cx="56025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943"/>
              <a:buFont typeface="Sora"/>
              <a:buNone/>
            </a:pPr>
            <a:r>
              <a:rPr lang="en-US" sz="1044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Analytical precision to support regulatory decisions and product development.</a:t>
            </a:r>
            <a:endParaRPr sz="1044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A43"/>
        </a:solidFill>
        <a:effectLst/>
      </p:bgPr>
    </p:bg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A43"/>
          </a:solidFill>
          <a:ln w="12700" cap="flat" cmpd="sng">
            <a:solidFill>
              <a:srgbClr val="333333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Sora"/>
              <a:buNone/>
            </a:pPr>
            <a:r>
              <a:rPr lang="en-US" sz="2500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Pesticide Residue Laboratory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42" name="Google Shape;442;p22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620"/>
              <a:buFont typeface="Sora"/>
              <a:buNone/>
            </a:pPr>
            <a:r>
              <a:rPr lang="en-US" sz="1120" b="1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INSTRUMENTATION FOR SENSITIVE ANALYSES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443" name="Google Shape;443;p22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w="254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4" name="Google Shape;444;p22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A8C0D6"/>
                </a:solidFill>
                <a:latin typeface="Sora"/>
                <a:ea typeface="Sora"/>
                <a:cs typeface="Sora"/>
                <a:sym typeface="Sora"/>
              </a:rPr>
              <a:t>SCI-AGRO  •  Commercial Presentation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445" name="Google Shape;445;p22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w="203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6" name="Google Shape;446;p22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Sora"/>
              <a:buNone/>
            </a:pPr>
            <a:r>
              <a:rPr lang="en-US" sz="600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20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447" name="Google Shape;447;p22" descr="/mnt/data/old_pptx_unzip/ppt/media/image68.png"/>
          <p:cNvPicPr preferRelativeResize="0"/>
          <p:nvPr/>
        </p:nvPicPr>
        <p:blipFill rotWithShape="1">
          <a:blip r:embed="rId3">
            <a:alphaModFix/>
          </a:blip>
          <a:srcRect l="25760" r="25755"/>
          <a:stretch/>
        </p:blipFill>
        <p:spPr>
          <a:xfrm>
            <a:off x="502925" y="1846950"/>
            <a:ext cx="2045400" cy="3164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48" name="Google Shape;448;p22"/>
          <p:cNvSpPr/>
          <p:nvPr/>
        </p:nvSpPr>
        <p:spPr>
          <a:xfrm>
            <a:off x="7801575" y="2011675"/>
            <a:ext cx="38427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11"/>
              <a:buFont typeface="Sora"/>
              <a:buNone/>
            </a:pPr>
            <a:r>
              <a:rPr lang="en-US" sz="1711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Infrastructure focused on sensitive detection, traceability and data robustness.</a:t>
            </a:r>
            <a:endParaRPr sz="1711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49" name="Google Shape;449;p22"/>
          <p:cNvSpPr/>
          <p:nvPr/>
        </p:nvSpPr>
        <p:spPr>
          <a:xfrm>
            <a:off x="7801575" y="3291850"/>
            <a:ext cx="3697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1020"/>
              <a:buFont typeface="Sora"/>
              <a:buNone/>
            </a:pPr>
            <a:r>
              <a:rPr lang="en-US" sz="1020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A key stage for products that need to reach the market with technical consistency.</a:t>
            </a:r>
            <a:endParaRPr sz="10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450" name="Google Shape;450;p22" title="Logo-SCi-Branca-Reduzida-P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84424" y="294850"/>
            <a:ext cx="1159624" cy="585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22"/>
          <p:cNvPicPr preferRelativeResize="0"/>
          <p:nvPr/>
        </p:nvPicPr>
        <p:blipFill>
          <a:blip r:embed="rId5">
            <a:alphaModFix amt="28000"/>
          </a:blip>
          <a:stretch>
            <a:fillRect/>
          </a:stretch>
        </p:blipFill>
        <p:spPr>
          <a:xfrm>
            <a:off x="10019425" y="4916170"/>
            <a:ext cx="1051576" cy="120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16900" y="1810350"/>
            <a:ext cx="4316100" cy="3237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5F8FB"/>
          </a:solidFill>
          <a:ln w="12700" cap="flat" cmpd="sng">
            <a:solidFill>
              <a:srgbClr val="333333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9" name="Google Shape;459;p23" descr="/mnt/data/Logo-Sci-Reduzida-Colorida-PN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7004" y="256032"/>
            <a:ext cx="1159609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3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2500"/>
              <a:buFont typeface="Sora"/>
              <a:buNone/>
            </a:pPr>
            <a:r>
              <a:rPr lang="en-US" sz="2500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Predictive Toxicology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61" name="Google Shape;461;p23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8498"/>
              </a:buClr>
              <a:buSzPts val="620"/>
              <a:buFont typeface="Sora"/>
              <a:buNone/>
            </a:pPr>
            <a:r>
              <a:rPr lang="en-US" sz="1120" b="1">
                <a:solidFill>
                  <a:srgbClr val="6F8498"/>
                </a:solidFill>
                <a:latin typeface="Sora"/>
                <a:ea typeface="Sora"/>
                <a:cs typeface="Sora"/>
                <a:sym typeface="Sora"/>
              </a:rPr>
              <a:t>IN SILICO - QSAR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462" name="Google Shape;462;p23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w="254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3" name="Google Shape;463;p23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0AF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8EA0AF"/>
                </a:solidFill>
                <a:latin typeface="Sora"/>
                <a:ea typeface="Sora"/>
                <a:cs typeface="Sora"/>
                <a:sym typeface="Sora"/>
              </a:rPr>
              <a:t>SCI-AGRO  •  Commercial Presentation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464" name="Google Shape;464;p23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w="203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5" name="Google Shape;465;p23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600"/>
              <a:buFont typeface="Sora"/>
              <a:buNone/>
            </a:pPr>
            <a:r>
              <a:rPr lang="en-US" sz="600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21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466" name="Google Shape;466;p23" descr="/mnt/data/old_pptx_unzip/ppt/media/image73.png"/>
          <p:cNvPicPr preferRelativeResize="0"/>
          <p:nvPr/>
        </p:nvPicPr>
        <p:blipFill rotWithShape="1">
          <a:blip r:embed="rId4">
            <a:alphaModFix/>
          </a:blip>
          <a:srcRect l="1015" r="1015"/>
          <a:stretch/>
        </p:blipFill>
        <p:spPr>
          <a:xfrm>
            <a:off x="7635240" y="1234440"/>
            <a:ext cx="3749100" cy="2148900"/>
          </a:xfrm>
          <a:prstGeom prst="roundRect">
            <a:avLst>
              <a:gd name="adj" fmla="val 12991"/>
            </a:avLst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67" name="Google Shape;467;p23" descr="/mnt/data/old_pptx_unzip/ppt/media/image72.png"/>
          <p:cNvPicPr preferRelativeResize="0"/>
          <p:nvPr/>
        </p:nvPicPr>
        <p:blipFill rotWithShape="1">
          <a:blip r:embed="rId5">
            <a:alphaModFix/>
          </a:blip>
          <a:srcRect t="27829" b="17238"/>
          <a:stretch/>
        </p:blipFill>
        <p:spPr>
          <a:xfrm>
            <a:off x="7635250" y="3724975"/>
            <a:ext cx="2385900" cy="1965900"/>
          </a:xfrm>
          <a:prstGeom prst="roundRect">
            <a:avLst>
              <a:gd name="adj" fmla="val 10897"/>
            </a:avLst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68" name="Google Shape;468;p23"/>
          <p:cNvSpPr/>
          <p:nvPr/>
        </p:nvSpPr>
        <p:spPr>
          <a:xfrm>
            <a:off x="502925" y="1440183"/>
            <a:ext cx="5852100" cy="21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1270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480"/>
              <a:buFont typeface="Sora"/>
              <a:buChar char="•"/>
            </a:pPr>
            <a:r>
              <a:rPr lang="en-US" sz="148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Use of at least three software platforms.</a:t>
            </a:r>
            <a:endParaRPr sz="148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marL="1270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480"/>
              <a:buFont typeface="Sora"/>
              <a:buChar char="•"/>
            </a:pPr>
            <a:r>
              <a:rPr lang="en-US" sz="148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Cross-referencing of predictive data with literature data for a complete, well-founded report.</a:t>
            </a:r>
            <a:endParaRPr sz="148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marL="1270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1480"/>
              <a:buFont typeface="Sora"/>
              <a:buChar char="•"/>
            </a:pPr>
            <a:r>
              <a:rPr lang="en-US" sz="1480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Approval by regulatory authorities with no further requirements.</a:t>
            </a:r>
            <a:endParaRPr sz="148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69" name="Google Shape;469;p23"/>
          <p:cNvSpPr/>
          <p:nvPr/>
        </p:nvSpPr>
        <p:spPr>
          <a:xfrm>
            <a:off x="502925" y="3944998"/>
            <a:ext cx="5852100" cy="1170300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3"/>
          <p:cNvSpPr/>
          <p:nvPr/>
        </p:nvSpPr>
        <p:spPr>
          <a:xfrm>
            <a:off x="652642" y="4105650"/>
            <a:ext cx="849000" cy="849000"/>
          </a:xfrm>
          <a:prstGeom prst="ellipse">
            <a:avLst/>
          </a:prstGeom>
          <a:solidFill>
            <a:srgbClr val="EEF7E5"/>
          </a:solidFill>
          <a:ln w="12700" cap="flat" cmpd="sng">
            <a:solidFill>
              <a:srgbClr val="EEF7E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471" name="Google Shape;471;p23"/>
          <p:cNvSpPr/>
          <p:nvPr/>
        </p:nvSpPr>
        <p:spPr>
          <a:xfrm>
            <a:off x="1750038" y="4374744"/>
            <a:ext cx="44349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1100"/>
              <a:buFont typeface="Sora"/>
              <a:buNone/>
            </a:pPr>
            <a:r>
              <a:rPr lang="en-US" sz="1300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Integration of software, literature and technical interpretation to reduce uncertainty.</a:t>
            </a:r>
            <a:endParaRPr sz="1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472" name="Google Shape;472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5695" y="4278550"/>
            <a:ext cx="502926" cy="503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019425" y="4916170"/>
            <a:ext cx="1051576" cy="120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A43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4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Sora"/>
              <a:buNone/>
            </a:pPr>
            <a:r>
              <a:rPr lang="en-US" sz="2500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The SCI-AGRO Commitment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80" name="Google Shape;480;p24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D5E7"/>
              </a:buClr>
              <a:buSzPts val="620"/>
              <a:buFont typeface="Sora"/>
              <a:buNone/>
            </a:pPr>
            <a:r>
              <a:rPr lang="en-US" sz="1120" b="1">
                <a:solidFill>
                  <a:srgbClr val="BFD5E7"/>
                </a:solidFill>
                <a:latin typeface="Sora"/>
                <a:ea typeface="Sora"/>
                <a:cs typeface="Sora"/>
                <a:sym typeface="Sora"/>
              </a:rPr>
              <a:t>APPLIED SCIENCE TO BRING NEW PRODUCTS TO MARKET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481" name="Google Shape;481;p24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w="254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2" name="Google Shape;482;p24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C0D6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A8C0D6"/>
                </a:solidFill>
                <a:latin typeface="Sora"/>
                <a:ea typeface="Sora"/>
                <a:cs typeface="Sora"/>
                <a:sym typeface="Sora"/>
              </a:rPr>
              <a:t>SCI-AGRO  •  Commercial Presentation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483" name="Google Shape;483;p24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w="203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4" name="Google Shape;484;p24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Sora"/>
              <a:buNone/>
            </a:pPr>
            <a:r>
              <a:rPr lang="en-US" sz="600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22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85" name="Google Shape;485;p24"/>
          <p:cNvSpPr/>
          <p:nvPr/>
        </p:nvSpPr>
        <p:spPr>
          <a:xfrm>
            <a:off x="502925" y="1528738"/>
            <a:ext cx="5621100" cy="14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11"/>
              <a:buFont typeface="Sora"/>
              <a:buNone/>
            </a:pPr>
            <a:r>
              <a:rPr lang="en-US" sz="1711">
                <a:solidFill>
                  <a:srgbClr val="FFFFFF"/>
                </a:solidFill>
                <a:latin typeface="Sora Medium"/>
                <a:ea typeface="Sora Medium"/>
                <a:cs typeface="Sora Medium"/>
                <a:sym typeface="Sora Medium"/>
              </a:rPr>
              <a:t>Helping new and better products reach the market, with a commitment to safeguarding health, human safety and the protection of the environment.</a:t>
            </a:r>
            <a:endParaRPr sz="1711">
              <a:solidFill>
                <a:schemeClr val="dk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cxnSp>
        <p:nvCxnSpPr>
          <p:cNvPr id="486" name="Google Shape;486;p24"/>
          <p:cNvCxnSpPr/>
          <p:nvPr/>
        </p:nvCxnSpPr>
        <p:spPr>
          <a:xfrm>
            <a:off x="502925" y="3156700"/>
            <a:ext cx="685800" cy="0"/>
          </a:xfrm>
          <a:prstGeom prst="straightConnector1">
            <a:avLst/>
          </a:prstGeom>
          <a:noFill/>
          <a:ln w="27925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7" name="Google Shape;487;p24"/>
          <p:cNvSpPr/>
          <p:nvPr/>
        </p:nvSpPr>
        <p:spPr>
          <a:xfrm>
            <a:off x="502927" y="3538823"/>
            <a:ext cx="1494300" cy="1088700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7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6600" tIns="126600" rIns="126600" bIns="126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39"/>
          </a:p>
        </p:txBody>
      </p:sp>
      <p:sp>
        <p:nvSpPr>
          <p:cNvPr id="488" name="Google Shape;488;p24"/>
          <p:cNvSpPr/>
          <p:nvPr/>
        </p:nvSpPr>
        <p:spPr>
          <a:xfrm>
            <a:off x="2465569" y="3538823"/>
            <a:ext cx="1494300" cy="1088700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7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6600" tIns="126600" rIns="126600" bIns="126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4"/>
          <p:cNvSpPr/>
          <p:nvPr/>
        </p:nvSpPr>
        <p:spPr>
          <a:xfrm>
            <a:off x="4428212" y="3538823"/>
            <a:ext cx="1494300" cy="1088700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7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6600" tIns="126600" rIns="126600" bIns="126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0" name="Google Shape;490;p24" descr="/mnt/data/old_pptx_unzip/ppt/media/image1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80158" y="3847921"/>
            <a:ext cx="1190247" cy="470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24" descr="/mnt/data/old_pptx_unzip/ppt/media/image10.png"/>
          <p:cNvPicPr preferRelativeResize="0"/>
          <p:nvPr/>
        </p:nvPicPr>
        <p:blipFill rotWithShape="1">
          <a:blip r:embed="rId4">
            <a:alphaModFix/>
          </a:blip>
          <a:srcRect r="18262"/>
          <a:stretch/>
        </p:blipFill>
        <p:spPr>
          <a:xfrm>
            <a:off x="6492240" y="1143000"/>
            <a:ext cx="425196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24"/>
          <p:cNvSpPr/>
          <p:nvPr/>
        </p:nvSpPr>
        <p:spPr>
          <a:xfrm>
            <a:off x="6492240" y="1143000"/>
            <a:ext cx="4251960" cy="2926080"/>
          </a:xfrm>
          <a:prstGeom prst="roundRect">
            <a:avLst>
              <a:gd name="adj" fmla="val 1875"/>
            </a:avLst>
          </a:prstGeom>
          <a:solidFill>
            <a:srgbClr val="FFFFFF">
              <a:alpha val="0"/>
            </a:srgbClr>
          </a:solidFill>
          <a:ln w="1395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3" name="Google Shape;493;p24" title="Logo-SCi-Branca-Reduzida-PN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84424" y="294850"/>
            <a:ext cx="1159624" cy="585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24"/>
          <p:cNvPicPr preferRelativeResize="0"/>
          <p:nvPr/>
        </p:nvPicPr>
        <p:blipFill>
          <a:blip r:embed="rId6">
            <a:alphaModFix amt="28000"/>
          </a:blip>
          <a:stretch>
            <a:fillRect/>
          </a:stretch>
        </p:blipFill>
        <p:spPr>
          <a:xfrm>
            <a:off x="10019425" y="4916170"/>
            <a:ext cx="1051576" cy="120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24" title="assinatura lahysAtivo 7@4x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88454" y="3678103"/>
            <a:ext cx="810394" cy="810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24" title="assinatura lahysAtivo 5@4x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01778" y="3605233"/>
            <a:ext cx="696429" cy="956114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24"/>
          <p:cNvSpPr/>
          <p:nvPr/>
        </p:nvSpPr>
        <p:spPr>
          <a:xfrm>
            <a:off x="521954" y="4844195"/>
            <a:ext cx="14562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62"/>
              <a:buFont typeface="Sora"/>
              <a:buNone/>
            </a:pPr>
            <a:r>
              <a:rPr lang="en-US" sz="2077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ISO 17025</a:t>
            </a:r>
            <a:endParaRPr sz="2077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24"/>
          <p:cNvSpPr/>
          <p:nvPr/>
        </p:nvSpPr>
        <p:spPr>
          <a:xfrm>
            <a:off x="2919567" y="4844195"/>
            <a:ext cx="5862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62"/>
              <a:buFont typeface="Sora"/>
              <a:buNone/>
            </a:pPr>
            <a:r>
              <a:rPr lang="en-US" sz="2077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GLP</a:t>
            </a:r>
            <a:endParaRPr sz="2077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9" name="Google Shape;499;p24"/>
          <p:cNvSpPr/>
          <p:nvPr/>
        </p:nvSpPr>
        <p:spPr>
          <a:xfrm>
            <a:off x="4513724" y="4844195"/>
            <a:ext cx="13230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62"/>
              <a:buFont typeface="Sora"/>
              <a:buNone/>
            </a:pPr>
            <a:r>
              <a:rPr lang="en-US" sz="2077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AAALAC</a:t>
            </a:r>
            <a:endParaRPr sz="2077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25" descr="/mnt/data/Logo-Sci-Reduzida-Colorida-PN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7004" y="256032"/>
            <a:ext cx="1159609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25"/>
          <p:cNvSpPr/>
          <p:nvPr/>
        </p:nvSpPr>
        <p:spPr>
          <a:xfrm>
            <a:off x="502920" y="512064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2500"/>
              <a:buFont typeface="Sora"/>
              <a:buNone/>
            </a:pPr>
            <a:r>
              <a:rPr lang="en-US" sz="2500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Contact</a:t>
            </a:r>
            <a:endParaRPr sz="2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07" name="Google Shape;507;p25"/>
          <p:cNvSpPr/>
          <p:nvPr/>
        </p:nvSpPr>
        <p:spPr>
          <a:xfrm>
            <a:off x="502920" y="100584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8498"/>
              </a:buClr>
              <a:buSzPts val="620"/>
              <a:buFont typeface="Sora"/>
              <a:buNone/>
            </a:pPr>
            <a:r>
              <a:rPr lang="en-US" sz="1120" b="1">
                <a:solidFill>
                  <a:srgbClr val="6F8498"/>
                </a:solidFill>
                <a:latin typeface="Sora"/>
                <a:ea typeface="Sora"/>
                <a:cs typeface="Sora"/>
                <a:sym typeface="Sora"/>
              </a:rPr>
              <a:t>TALK TO OUR COMMERCIAL TEAM</a:t>
            </a:r>
            <a:endParaRPr sz="112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508" name="Google Shape;508;p25"/>
          <p:cNvCxnSpPr/>
          <p:nvPr/>
        </p:nvCxnSpPr>
        <p:spPr>
          <a:xfrm>
            <a:off x="502920" y="1316736"/>
            <a:ext cx="502920" cy="0"/>
          </a:xfrm>
          <a:prstGeom prst="straightConnector1">
            <a:avLst/>
          </a:prstGeom>
          <a:noFill/>
          <a:ln w="254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9" name="Google Shape;509;p25"/>
          <p:cNvSpPr/>
          <p:nvPr/>
        </p:nvSpPr>
        <p:spPr>
          <a:xfrm>
            <a:off x="347472" y="649224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0AF"/>
              </a:buClr>
              <a:buSzPts val="550"/>
              <a:buFont typeface="Sora"/>
              <a:buNone/>
            </a:pPr>
            <a:r>
              <a:rPr lang="en-US" sz="550">
                <a:solidFill>
                  <a:srgbClr val="8EA0AF"/>
                </a:solidFill>
                <a:latin typeface="Sora"/>
                <a:ea typeface="Sora"/>
                <a:cs typeface="Sora"/>
                <a:sym typeface="Sora"/>
              </a:rPr>
              <a:t>SCI-AGRO  •  Commercial Presentation</a:t>
            </a:r>
            <a:endParaRPr sz="5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510" name="Google Shape;510;p25"/>
          <p:cNvCxnSpPr/>
          <p:nvPr/>
        </p:nvCxnSpPr>
        <p:spPr>
          <a:xfrm>
            <a:off x="10972800" y="6565392"/>
            <a:ext cx="228600" cy="0"/>
          </a:xfrm>
          <a:prstGeom prst="straightConnector1">
            <a:avLst/>
          </a:prstGeom>
          <a:noFill/>
          <a:ln w="20300" cap="flat" cmpd="sng">
            <a:solidFill>
              <a:srgbClr val="8CC6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1" name="Google Shape;511;p25"/>
          <p:cNvSpPr/>
          <p:nvPr/>
        </p:nvSpPr>
        <p:spPr>
          <a:xfrm>
            <a:off x="11283696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600"/>
              <a:buFont typeface="Sora"/>
              <a:buNone/>
            </a:pPr>
            <a:r>
              <a:rPr lang="en-US" sz="600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23</a:t>
            </a:r>
            <a:endParaRPr sz="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12" name="Google Shape;512;p25"/>
          <p:cNvSpPr/>
          <p:nvPr/>
        </p:nvSpPr>
        <p:spPr>
          <a:xfrm>
            <a:off x="502913" y="4323733"/>
            <a:ext cx="5989200" cy="960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25"/>
          <p:cNvSpPr/>
          <p:nvPr/>
        </p:nvSpPr>
        <p:spPr>
          <a:xfrm>
            <a:off x="1762926" y="4712225"/>
            <a:ext cx="1481328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4A6"/>
              </a:buClr>
              <a:buSzPts val="1050"/>
              <a:buFont typeface="Sora"/>
              <a:buNone/>
            </a:pPr>
            <a:r>
              <a:rPr lang="en-US" sz="1050" b="1">
                <a:solidFill>
                  <a:srgbClr val="0054A6"/>
                </a:solidFill>
                <a:latin typeface="Sora"/>
                <a:ea typeface="Sora"/>
                <a:cs typeface="Sora"/>
                <a:sym typeface="Sora"/>
              </a:rPr>
              <a:t>sales@sci-agro.com</a:t>
            </a:r>
            <a:endParaRPr sz="105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14" name="Google Shape;514;p25"/>
          <p:cNvSpPr/>
          <p:nvPr/>
        </p:nvSpPr>
        <p:spPr>
          <a:xfrm>
            <a:off x="3273552" y="4614125"/>
            <a:ext cx="1719072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375" rIns="18288" bIns="3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839"/>
              <a:buFont typeface="Sora"/>
              <a:buNone/>
            </a:pPr>
            <a:r>
              <a:rPr lang="en-US" sz="840" b="1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Phone: +55 (19) 3186-2117</a:t>
            </a:r>
            <a:endParaRPr sz="840" b="1">
              <a:solidFill>
                <a:srgbClr val="102337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2337"/>
              </a:buClr>
              <a:buSzPts val="839"/>
              <a:buFont typeface="Sora"/>
              <a:buNone/>
            </a:pPr>
            <a:r>
              <a:rPr lang="en-US" sz="840" b="1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Mobile: +55 (19) 99506-0422</a:t>
            </a:r>
            <a:endParaRPr sz="840" b="1">
              <a:solidFill>
                <a:srgbClr val="102337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15" name="Google Shape;515;p25"/>
          <p:cNvGrpSpPr/>
          <p:nvPr/>
        </p:nvGrpSpPr>
        <p:grpSpPr>
          <a:xfrm>
            <a:off x="502913" y="1809120"/>
            <a:ext cx="5989200" cy="1115700"/>
            <a:chOff x="576600" y="2215120"/>
            <a:chExt cx="5989200" cy="1115700"/>
          </a:xfrm>
        </p:grpSpPr>
        <p:sp>
          <p:nvSpPr>
            <p:cNvPr id="516" name="Google Shape;516;p25"/>
            <p:cNvSpPr/>
            <p:nvPr/>
          </p:nvSpPr>
          <p:spPr>
            <a:xfrm>
              <a:off x="576600" y="2215120"/>
              <a:ext cx="5989200" cy="1115700"/>
            </a:xfrm>
            <a:prstGeom prst="roundRect">
              <a:avLst>
                <a:gd name="adj" fmla="val 7377"/>
              </a:avLst>
            </a:prstGeom>
            <a:solidFill>
              <a:srgbClr val="FFFFFF"/>
            </a:solidFill>
            <a:ln w="12700" cap="flat" cmpd="sng">
              <a:solidFill>
                <a:srgbClr val="D9E5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7" name="Google Shape;517;p25"/>
            <p:cNvGrpSpPr/>
            <p:nvPr/>
          </p:nvGrpSpPr>
          <p:grpSpPr>
            <a:xfrm>
              <a:off x="1840346" y="2560120"/>
              <a:ext cx="2238000" cy="425700"/>
              <a:chOff x="1766671" y="1888100"/>
              <a:chExt cx="2238000" cy="425700"/>
            </a:xfrm>
          </p:grpSpPr>
          <p:sp>
            <p:nvSpPr>
              <p:cNvPr id="518" name="Google Shape;518;p25"/>
              <p:cNvSpPr/>
              <p:nvPr/>
            </p:nvSpPr>
            <p:spPr>
              <a:xfrm>
                <a:off x="1766671" y="1888100"/>
                <a:ext cx="2238000" cy="20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5" tIns="375" rIns="375" bIns="3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0054A6"/>
                  </a:buClr>
                  <a:buSzPts val="1200"/>
                  <a:buFont typeface="Sora"/>
                  <a:buNone/>
                </a:pPr>
                <a:r>
                  <a:rPr lang="en-US" sz="1500" b="1">
                    <a:solidFill>
                      <a:srgbClr val="0054A6"/>
                    </a:solidFill>
                    <a:latin typeface="Sora"/>
                    <a:ea typeface="Sora"/>
                    <a:cs typeface="Sora"/>
                    <a:sym typeface="Sora"/>
                  </a:rPr>
                  <a:t>Lahys Caetano Tomaz</a:t>
                </a:r>
                <a:endParaRPr sz="15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9" name="Google Shape;519;p25"/>
              <p:cNvSpPr/>
              <p:nvPr/>
            </p:nvSpPr>
            <p:spPr>
              <a:xfrm>
                <a:off x="1766671" y="2149100"/>
                <a:ext cx="2069400" cy="16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5" tIns="375" rIns="375" bIns="3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8CC63F"/>
                  </a:buClr>
                  <a:buSzPts val="820"/>
                  <a:buFont typeface="Sora"/>
                  <a:buNone/>
                </a:pPr>
                <a:r>
                  <a:rPr lang="en-US" sz="1120" b="1">
                    <a:solidFill>
                      <a:srgbClr val="8CC63F"/>
                    </a:solidFill>
                    <a:latin typeface="Sora"/>
                    <a:ea typeface="Sora"/>
                    <a:cs typeface="Sora"/>
                    <a:sym typeface="Sora"/>
                  </a:rPr>
                  <a:t>Commercial Director</a:t>
                </a:r>
                <a:endParaRPr sz="112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520" name="Google Shape;520;p25"/>
            <p:cNvSpPr/>
            <p:nvPr/>
          </p:nvSpPr>
          <p:spPr>
            <a:xfrm>
              <a:off x="4132576" y="2608420"/>
              <a:ext cx="2238000" cy="32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5" tIns="375" rIns="375" bIns="3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02337"/>
                </a:buClr>
                <a:buSzPts val="850"/>
                <a:buFont typeface="Sora"/>
                <a:buNone/>
              </a:pPr>
              <a:r>
                <a:rPr lang="en-US" sz="1150" b="1">
                  <a:solidFill>
                    <a:srgbClr val="102337"/>
                  </a:solidFill>
                  <a:latin typeface="Sora"/>
                  <a:ea typeface="Sora"/>
                  <a:cs typeface="Sora"/>
                  <a:sym typeface="Sora"/>
                </a:rPr>
                <a:t>lahys.caetano@sci-agro.com</a:t>
              </a:r>
              <a:endParaRPr sz="115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02337"/>
                </a:buClr>
                <a:buSzPts val="850"/>
                <a:buFont typeface="Sora"/>
                <a:buNone/>
              </a:pPr>
              <a:r>
                <a:rPr lang="en-US" sz="1150" b="1">
                  <a:solidFill>
                    <a:srgbClr val="102337"/>
                  </a:solidFill>
                  <a:latin typeface="Sora"/>
                  <a:ea typeface="Sora"/>
                  <a:cs typeface="Sora"/>
                  <a:sym typeface="Sora"/>
                </a:rPr>
                <a:t>Mobile +55 (19) 98196-4544</a:t>
              </a:r>
              <a:endParaRPr sz="115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pic>
          <p:nvPicPr>
            <p:cNvPr id="521" name="Google Shape;521;p25" title="foto-lahys-boa.png"/>
            <p:cNvPicPr preferRelativeResize="0"/>
            <p:nvPr/>
          </p:nvPicPr>
          <p:blipFill rotWithShape="1">
            <a:blip r:embed="rId4">
              <a:alphaModFix/>
            </a:blip>
            <a:srcRect l="16898" t="4149" r="8758" b="40526"/>
            <a:stretch/>
          </p:blipFill>
          <p:spPr>
            <a:xfrm>
              <a:off x="696225" y="2292970"/>
              <a:ext cx="966300" cy="9600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grpSp>
        <p:nvGrpSpPr>
          <p:cNvPr id="522" name="Google Shape;522;p25"/>
          <p:cNvGrpSpPr/>
          <p:nvPr/>
        </p:nvGrpSpPr>
        <p:grpSpPr>
          <a:xfrm>
            <a:off x="502913" y="3066413"/>
            <a:ext cx="6070598" cy="1115700"/>
            <a:chOff x="576588" y="3472413"/>
            <a:chExt cx="6070598" cy="1115700"/>
          </a:xfrm>
        </p:grpSpPr>
        <p:sp>
          <p:nvSpPr>
            <p:cNvPr id="523" name="Google Shape;523;p25"/>
            <p:cNvSpPr/>
            <p:nvPr/>
          </p:nvSpPr>
          <p:spPr>
            <a:xfrm>
              <a:off x="576588" y="3472413"/>
              <a:ext cx="5989200" cy="1115700"/>
            </a:xfrm>
            <a:prstGeom prst="roundRect">
              <a:avLst>
                <a:gd name="adj" fmla="val 7377"/>
              </a:avLst>
            </a:prstGeom>
            <a:solidFill>
              <a:srgbClr val="FFFFFF"/>
            </a:solidFill>
            <a:ln w="12700" cap="flat" cmpd="sng">
              <a:solidFill>
                <a:srgbClr val="D9E5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4" name="Google Shape;524;p25"/>
            <p:cNvGrpSpPr/>
            <p:nvPr/>
          </p:nvGrpSpPr>
          <p:grpSpPr>
            <a:xfrm>
              <a:off x="1840346" y="3811219"/>
              <a:ext cx="1570800" cy="438088"/>
              <a:chOff x="1766671" y="3136388"/>
              <a:chExt cx="1570800" cy="438088"/>
            </a:xfrm>
          </p:grpSpPr>
          <p:sp>
            <p:nvSpPr>
              <p:cNvPr id="525" name="Google Shape;525;p25"/>
              <p:cNvSpPr/>
              <p:nvPr/>
            </p:nvSpPr>
            <p:spPr>
              <a:xfrm>
                <a:off x="1766671" y="3136388"/>
                <a:ext cx="1570800" cy="20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5" tIns="375" rIns="375" bIns="3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0054A6"/>
                  </a:buClr>
                  <a:buSzPts val="1200"/>
                  <a:buFont typeface="Sora"/>
                  <a:buNone/>
                </a:pPr>
                <a:r>
                  <a:rPr lang="en-US" sz="1500" b="1">
                    <a:solidFill>
                      <a:srgbClr val="0054A6"/>
                    </a:solidFill>
                    <a:latin typeface="Sora"/>
                    <a:ea typeface="Sora"/>
                    <a:cs typeface="Sora"/>
                    <a:sym typeface="Sora"/>
                  </a:rPr>
                  <a:t>Ellen Moraes</a:t>
                </a:r>
                <a:endParaRPr sz="15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26" name="Google Shape;526;p25"/>
              <p:cNvSpPr/>
              <p:nvPr/>
            </p:nvSpPr>
            <p:spPr>
              <a:xfrm>
                <a:off x="1775871" y="3391475"/>
                <a:ext cx="1691640" cy="1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75" tIns="375" rIns="375" bIns="3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8CC63F"/>
                  </a:buClr>
                  <a:buSzPts val="820"/>
                  <a:buFont typeface="Sora"/>
                  <a:buNone/>
                </a:pPr>
                <a:r>
                  <a:rPr lang="en-US" sz="1120" b="1">
                    <a:solidFill>
                      <a:srgbClr val="8CC63F"/>
                    </a:solidFill>
                    <a:latin typeface="Sora"/>
                    <a:ea typeface="Sora"/>
                    <a:cs typeface="Sora"/>
                    <a:sym typeface="Sora"/>
                  </a:rPr>
                  <a:t>Commercial Manager</a:t>
                </a:r>
                <a:endParaRPr sz="112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527" name="Google Shape;527;p25"/>
            <p:cNvSpPr/>
            <p:nvPr/>
          </p:nvSpPr>
          <p:spPr>
            <a:xfrm>
              <a:off x="4132585" y="3879663"/>
              <a:ext cx="2514600" cy="32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75" tIns="375" rIns="375" bIns="3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02337"/>
                </a:buClr>
                <a:buSzPts val="850"/>
                <a:buFont typeface="Sora"/>
                <a:buNone/>
              </a:pPr>
              <a:r>
                <a:rPr lang="en-US" sz="1150" b="1">
                  <a:solidFill>
                    <a:srgbClr val="102337"/>
                  </a:solidFill>
                  <a:latin typeface="Sora"/>
                  <a:ea typeface="Sora"/>
                  <a:cs typeface="Sora"/>
                  <a:sym typeface="Sora"/>
                </a:rPr>
                <a:t>e.moraes@sci-agro.com</a:t>
              </a:r>
              <a:endParaRPr sz="115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02337"/>
                </a:buClr>
                <a:buSzPts val="850"/>
                <a:buFont typeface="Sora"/>
                <a:buNone/>
              </a:pPr>
              <a:r>
                <a:rPr lang="en-US" sz="1150" b="1">
                  <a:solidFill>
                    <a:srgbClr val="102337"/>
                  </a:solidFill>
                  <a:latin typeface="Sora"/>
                  <a:ea typeface="Sora"/>
                  <a:cs typeface="Sora"/>
                  <a:sym typeface="Sora"/>
                </a:rPr>
                <a:t>Mobile +55 (19) 99946-2639</a:t>
              </a:r>
              <a:endParaRPr sz="115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pic>
          <p:nvPicPr>
            <p:cNvPr id="528" name="Google Shape;528;p25" title="WhatsApp Image 2026-06-02 at 15.01.49.jpeg"/>
            <p:cNvPicPr preferRelativeResize="0"/>
            <p:nvPr/>
          </p:nvPicPr>
          <p:blipFill rotWithShape="1">
            <a:blip r:embed="rId5">
              <a:alphaModFix/>
            </a:blip>
            <a:srcRect l="7187" t="4943" r="1254" b="10854"/>
            <a:stretch/>
          </p:blipFill>
          <p:spPr>
            <a:xfrm>
              <a:off x="688275" y="3539163"/>
              <a:ext cx="982200" cy="9822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pic>
        <p:nvPicPr>
          <p:cNvPr id="529" name="Google Shape;529;p25"/>
          <p:cNvPicPr preferRelativeResize="0"/>
          <p:nvPr/>
        </p:nvPicPr>
        <p:blipFill rotWithShape="1">
          <a:blip r:embed="rId6">
            <a:alphaModFix/>
          </a:blip>
          <a:srcRect r="21316" b="10587"/>
          <a:stretch/>
        </p:blipFill>
        <p:spPr>
          <a:xfrm>
            <a:off x="6720850" y="1486025"/>
            <a:ext cx="5157000" cy="4276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530" name="Google Shape;530;p25" descr="/mnt/data/Logo-Sci-Reduzida-Colorida-PN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0574" y="4544787"/>
            <a:ext cx="1026199" cy="517875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25"/>
          <p:cNvSpPr txBox="1"/>
          <p:nvPr/>
        </p:nvSpPr>
        <p:spPr>
          <a:xfrm>
            <a:off x="4956048" y="4582025"/>
            <a:ext cx="1536192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91425" rIns="18288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b="1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LinkedIn: SCI-AGRO</a:t>
            </a:r>
            <a:endParaRPr sz="840" b="1">
              <a:solidFill>
                <a:srgbClr val="102337"/>
              </a:solidFill>
              <a:latin typeface="Sora"/>
              <a:ea typeface="Sora"/>
              <a:cs typeface="Sora"/>
              <a:sym typeface="S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b="1">
                <a:solidFill>
                  <a:srgbClr val="102337"/>
                </a:solidFill>
                <a:latin typeface="Sora"/>
                <a:ea typeface="Sora"/>
                <a:cs typeface="Sora"/>
                <a:sym typeface="Sora"/>
              </a:rPr>
              <a:t>Instagram: @sciagrolab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1315</Words>
  <Application>Microsoft Office PowerPoint</Application>
  <PresentationFormat>Widescreen</PresentationFormat>
  <Paragraphs>230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9" baseType="lpstr">
      <vt:lpstr>Calibri</vt:lpstr>
      <vt:lpstr>Arial</vt:lpstr>
      <vt:lpstr>Sora</vt:lpstr>
      <vt:lpstr>Quattrocento Sans</vt:lpstr>
      <vt:lpstr>Sora Medium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SCI-AGRO Commercial Presentation 2026</dc:title>
  <cp:lastModifiedBy>Marketing GLP</cp:lastModifiedBy>
  <cp:revision>2</cp:revision>
  <dcterms:modified xsi:type="dcterms:W3CDTF">2026-09-09T13:09:23Z</dcterms:modified>
  <dc:language>en-US</dc:language>
</cp:coreProperties>
</file>