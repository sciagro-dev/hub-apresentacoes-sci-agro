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12192000"/>
  <p:embeddedFontLst>
    <p:embeddedFont>
      <p:font typeface="Sora"/>
      <p:regular r:id="rId29"/>
      <p:bold r:id="rId30"/>
    </p:embeddedFont>
    <p:embeddedFont>
      <p:font typeface="Sora Medium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Fabio Campo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or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Medium-regular.fntdata"/><Relationship Id="rId30" Type="http://schemas.openxmlformats.org/officeDocument/2006/relationships/font" Target="fonts/Sor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Sora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8T15:14:37.050">
    <p:pos x="6000" y="0"/>
    <p:text>foto cromatograma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8-28T15:17:28.769">
    <p:pos x="4294" y="760"/>
    <p:text>editar foto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8-28T15:18:03.840">
    <p:pos x="316" y="1042"/>
    <p:text>editar fotos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8-28T17:55:08.591">
    <p:pos x="6000" y="0"/>
    <p:text>editar o texto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754ae4d7d_0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g3e754ae4d7d_0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e754ae4d7d_0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754ae4d7d_0_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g3e754ae4d7d_0_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e754ae4d7d_0_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Google Shape;455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6.png"/><Relationship Id="rId4" Type="http://schemas.openxmlformats.org/officeDocument/2006/relationships/image" Target="../media/image2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26.png"/><Relationship Id="rId7" Type="http://schemas.openxmlformats.org/officeDocument/2006/relationships/image" Target="../media/image12.png"/><Relationship Id="rId8" Type="http://schemas.openxmlformats.org/officeDocument/2006/relationships/image" Target="../media/image29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7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67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5.jpg"/><Relationship Id="rId11" Type="http://schemas.openxmlformats.org/officeDocument/2006/relationships/image" Target="../media/image23.jpg"/><Relationship Id="rId10" Type="http://schemas.openxmlformats.org/officeDocument/2006/relationships/image" Target="../media/image22.png"/><Relationship Id="rId9" Type="http://schemas.openxmlformats.org/officeDocument/2006/relationships/image" Target="../media/image16.png"/><Relationship Id="rId5" Type="http://schemas.openxmlformats.org/officeDocument/2006/relationships/image" Target="../media/image14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2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Relationship Id="rId4" Type="http://schemas.openxmlformats.org/officeDocument/2006/relationships/image" Target="../media/image3.png"/><Relationship Id="rId5" Type="http://schemas.openxmlformats.org/officeDocument/2006/relationships/image" Target="../media/image20.jpg"/><Relationship Id="rId6" Type="http://schemas.openxmlformats.org/officeDocument/2006/relationships/image" Target="../media/image19.jpg"/><Relationship Id="rId7" Type="http://schemas.openxmlformats.org/officeDocument/2006/relationships/image" Target="../media/image2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8.jpg"/><Relationship Id="rId5" Type="http://schemas.openxmlformats.org/officeDocument/2006/relationships/image" Target="../media/image30.jpg"/><Relationship Id="rId6" Type="http://schemas.openxmlformats.org/officeDocument/2006/relationships/image" Target="../media/image32.jpg"/><Relationship Id="rId7" Type="http://schemas.openxmlformats.org/officeDocument/2006/relationships/image" Target="../media/image3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38.jpg"/><Relationship Id="rId6" Type="http://schemas.openxmlformats.org/officeDocument/2006/relationships/image" Target="../media/image42.jpg"/><Relationship Id="rId7" Type="http://schemas.openxmlformats.org/officeDocument/2006/relationships/image" Target="../media/image4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1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jpg"/><Relationship Id="rId4" Type="http://schemas.openxmlformats.org/officeDocument/2006/relationships/image" Target="../media/image25.png"/><Relationship Id="rId5" Type="http://schemas.openxmlformats.org/officeDocument/2006/relationships/image" Target="../media/image10.png"/><Relationship Id="rId6" Type="http://schemas.openxmlformats.org/officeDocument/2006/relationships/image" Target="../media/image3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6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jpg"/><Relationship Id="rId4" Type="http://schemas.openxmlformats.org/officeDocument/2006/relationships/image" Target="../media/image39.jpg"/><Relationship Id="rId5" Type="http://schemas.openxmlformats.org/officeDocument/2006/relationships/image" Target="../media/image43.jpg"/><Relationship Id="rId6" Type="http://schemas.openxmlformats.org/officeDocument/2006/relationships/image" Target="../media/image25.png"/><Relationship Id="rId7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2.xml"/><Relationship Id="rId4" Type="http://schemas.openxmlformats.org/officeDocument/2006/relationships/image" Target="../media/image3.png"/><Relationship Id="rId5" Type="http://schemas.openxmlformats.org/officeDocument/2006/relationships/image" Target="../media/image54.jp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3.xml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25.png"/><Relationship Id="rId7" Type="http://schemas.openxmlformats.org/officeDocument/2006/relationships/image" Target="../media/image10.png"/><Relationship Id="rId8" Type="http://schemas.openxmlformats.org/officeDocument/2006/relationships/image" Target="../media/image61.jp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4.xml"/><Relationship Id="rId4" Type="http://schemas.openxmlformats.org/officeDocument/2006/relationships/image" Target="../media/image3.png"/><Relationship Id="rId5" Type="http://schemas.openxmlformats.org/officeDocument/2006/relationships/image" Target="../media/image46.jp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49.jpg"/><Relationship Id="rId6" Type="http://schemas.openxmlformats.org/officeDocument/2006/relationships/image" Target="../media/image48.jpg"/><Relationship Id="rId7" Type="http://schemas.openxmlformats.org/officeDocument/2006/relationships/image" Target="../media/image4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65.jp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66.jpg"/><Relationship Id="rId6" Type="http://schemas.openxmlformats.org/officeDocument/2006/relationships/image" Target="../media/image50.jp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62.jp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1.jpg"/><Relationship Id="rId4" Type="http://schemas.openxmlformats.org/officeDocument/2006/relationships/image" Target="../media/image25.png"/><Relationship Id="rId5" Type="http://schemas.openxmlformats.org/officeDocument/2006/relationships/image" Target="../media/image10.png"/><Relationship Id="rId6" Type="http://schemas.openxmlformats.org/officeDocument/2006/relationships/image" Target="../media/image64.jp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52.jpg"/><Relationship Id="rId5" Type="http://schemas.openxmlformats.org/officeDocument/2006/relationships/image" Target="../media/image58.jpg"/><Relationship Id="rId6" Type="http://schemas.openxmlformats.org/officeDocument/2006/relationships/image" Target="../media/image53.png"/><Relationship Id="rId7" Type="http://schemas.openxmlformats.org/officeDocument/2006/relationships/image" Target="../media/image68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5.jpg"/><Relationship Id="rId4" Type="http://schemas.openxmlformats.org/officeDocument/2006/relationships/image" Target="../media/image70.jpg"/><Relationship Id="rId5" Type="http://schemas.openxmlformats.org/officeDocument/2006/relationships/image" Target="../media/image25.png"/><Relationship Id="rId6" Type="http://schemas.openxmlformats.org/officeDocument/2006/relationships/image" Target="../media/image10.png"/><Relationship Id="rId7" Type="http://schemas.openxmlformats.org/officeDocument/2006/relationships/image" Target="../media/image57.png"/><Relationship Id="rId8" Type="http://schemas.openxmlformats.org/officeDocument/2006/relationships/image" Target="../media/image59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63.jpg"/><Relationship Id="rId5" Type="http://schemas.openxmlformats.org/officeDocument/2006/relationships/image" Target="../media/image60.jpg"/><Relationship Id="rId6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A43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062A4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" name="Google Shape;14;p3"/>
          <p:cNvCxnSpPr/>
          <p:nvPr/>
        </p:nvCxnSpPr>
        <p:spPr>
          <a:xfrm>
            <a:off x="3930825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Logo-Sci-Reduzida-Colorida-PNG.png" id="15" name="Google Shape;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103" y="453380"/>
            <a:ext cx="1982123" cy="100031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566928" y="2304288"/>
            <a:ext cx="1188720" cy="292608"/>
          </a:xfrm>
          <a:prstGeom prst="roundRect">
            <a:avLst>
              <a:gd fmla="val 25000" name="adj"/>
            </a:avLst>
          </a:prstGeom>
          <a:solidFill>
            <a:srgbClr val="8CC6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30150" y="2350008"/>
            <a:ext cx="10789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2A43"/>
              </a:buClr>
              <a:buSzPts val="1200"/>
              <a:buFont typeface="Sora"/>
              <a:buNone/>
            </a:pPr>
            <a:r>
              <a:rPr b="1" i="0" lang="en-US" sz="1200" u="none" cap="none" strike="noStrike">
                <a:solidFill>
                  <a:srgbClr val="062A43"/>
                </a:solidFill>
                <a:latin typeface="Sora"/>
                <a:ea typeface="Sora"/>
                <a:cs typeface="Sora"/>
                <a:sym typeface="Sora"/>
              </a:rPr>
              <a:t>COMERCIAL</a:t>
            </a:r>
            <a:endParaRPr b="0" i="0" sz="12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274320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Sora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Apresentação</a:t>
            </a:r>
            <a:endParaRPr b="0" i="0" sz="29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Sora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SCI-AGRO</a:t>
            </a:r>
            <a:endParaRPr b="0" i="0" sz="29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566928" y="4133088"/>
            <a:ext cx="640080" cy="0"/>
          </a:xfrm>
          <a:prstGeom prst="straightConnector1">
            <a:avLst/>
          </a:prstGeom>
          <a:noFill/>
          <a:ln cap="flat" cmpd="sng" w="27925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566928" y="437083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40"/>
              <a:buFont typeface="Sora"/>
              <a:buNone/>
            </a:pPr>
            <a:r>
              <a:rPr b="0" i="0" lang="en-US" sz="1040" u="none" cap="none" strike="noStrike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Seu produto.</a:t>
            </a:r>
            <a:endParaRPr b="0" i="0" sz="104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40"/>
              <a:buFont typeface="Sora"/>
              <a:buNone/>
            </a:pPr>
            <a:r>
              <a:rPr b="0" i="0" lang="en-US" sz="1040" u="none" cap="none" strike="noStrike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Nossa responsabilidade.</a:t>
            </a:r>
            <a:endParaRPr b="0" i="0" sz="104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66928" y="62362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0D8"/>
              </a:buClr>
              <a:buSzPts val="620"/>
              <a:buFont typeface="Sora"/>
              <a:buNone/>
            </a:pPr>
            <a:r>
              <a:rPr b="1" i="0" lang="en-US" sz="620" u="none" cap="none" strike="noStrike">
                <a:solidFill>
                  <a:srgbClr val="9FC0D8"/>
                </a:solidFill>
                <a:latin typeface="Sora"/>
                <a:ea typeface="Sora"/>
                <a:cs typeface="Sora"/>
                <a:sym typeface="Sora"/>
              </a:rPr>
              <a:t>SCI-AGRO • A GLP Laboratory</a:t>
            </a:r>
            <a:endParaRPr b="0" i="0" sz="62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2" name="Google Shape;22;p3" title="bH87J3JaJf01JPO770Es.jpg"/>
          <p:cNvPicPr preferRelativeResize="0"/>
          <p:nvPr/>
        </p:nvPicPr>
        <p:blipFill rotWithShape="1">
          <a:blip r:embed="rId4">
            <a:alphaModFix/>
          </a:blip>
          <a:srcRect b="0" l="32240" r="0" t="0"/>
          <a:stretch/>
        </p:blipFill>
        <p:spPr>
          <a:xfrm>
            <a:off x="3930825" y="0"/>
            <a:ext cx="8261176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ogo-Sci-Reduzida-Colorida-PNG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Quem somos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1050"/>
              <a:buFont typeface="Sora"/>
              <a:buNone/>
            </a:pPr>
            <a:r>
              <a:rPr b="1" lang="en-US" sz="1120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CONHECIMENTO APLICADO AO DESENVOLVIMENTO SEGURO DO AGRO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3" name="Google Shape;33;p4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4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02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90" y="1645890"/>
            <a:ext cx="6355200" cy="1170300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4"/>
          <p:cNvGrpSpPr/>
          <p:nvPr/>
        </p:nvGrpSpPr>
        <p:grpSpPr>
          <a:xfrm>
            <a:off x="1371675" y="1895610"/>
            <a:ext cx="5349309" cy="670860"/>
            <a:chOff x="1417325" y="1773225"/>
            <a:chExt cx="5349309" cy="670860"/>
          </a:xfrm>
        </p:grpSpPr>
        <p:sp>
          <p:nvSpPr>
            <p:cNvPr id="37" name="Google Shape;37;p4"/>
            <p:cNvSpPr/>
            <p:nvPr/>
          </p:nvSpPr>
          <p:spPr>
            <a:xfrm>
              <a:off x="1417325" y="1773225"/>
              <a:ext cx="41730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54A6"/>
                </a:buClr>
                <a:buSzPts val="1100"/>
                <a:buFont typeface="Sora"/>
                <a:buNone/>
              </a:pPr>
              <a:r>
                <a:rPr b="1" lang="en-US" sz="1300">
                  <a:solidFill>
                    <a:srgbClr val="0054A6"/>
                  </a:solidFill>
                  <a:latin typeface="Sora"/>
                  <a:ea typeface="Sora"/>
                  <a:cs typeface="Sora"/>
                  <a:sym typeface="Sora"/>
                </a:rPr>
                <a:t>O patrocinador é nossa prioridade</a:t>
              </a:r>
              <a:endPara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1417334" y="2096685"/>
              <a:ext cx="53493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E7185"/>
                </a:buClr>
                <a:buSzPts val="939"/>
                <a:buFont typeface="Sora"/>
                <a:buNone/>
              </a:pPr>
              <a:r>
                <a:rPr lang="en-US" sz="1140">
                  <a:solidFill>
                    <a:srgbClr val="5E7185"/>
                  </a:solidFill>
                  <a:latin typeface="Sora"/>
                  <a:ea typeface="Sora"/>
                  <a:cs typeface="Sora"/>
                  <a:sym typeface="Sora"/>
                </a:rPr>
                <a:t>Foco em parceria, agilidade no contato técnico e cumprimento dos prazos acordados.</a:t>
              </a:r>
              <a:endParaRPr sz="114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9" name="Google Shape;39;p4"/>
          <p:cNvSpPr/>
          <p:nvPr/>
        </p:nvSpPr>
        <p:spPr>
          <a:xfrm>
            <a:off x="704156" y="2011590"/>
            <a:ext cx="438900" cy="438900"/>
          </a:xfrm>
          <a:prstGeom prst="ellipse">
            <a:avLst/>
          </a:prstGeom>
          <a:solidFill>
            <a:srgbClr val="EEF7E5"/>
          </a:solidFill>
          <a:ln cap="flat" cmpd="sng" w="12700">
            <a:solidFill>
              <a:srgbClr val="EEF7E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03000" y="3035775"/>
            <a:ext cx="3063300" cy="984900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04158" y="3276825"/>
            <a:ext cx="502800" cy="502800"/>
          </a:xfrm>
          <a:prstGeom prst="ellipse">
            <a:avLst/>
          </a:prstGeom>
          <a:solidFill>
            <a:srgbClr val="EAF2F7"/>
          </a:solidFill>
          <a:ln cap="flat" cmpd="sng" w="12700">
            <a:solidFill>
              <a:srgbClr val="EAF2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371670" y="3336225"/>
            <a:ext cx="187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939"/>
              <a:buFont typeface="Sora"/>
              <a:buNone/>
            </a:pPr>
            <a:r>
              <a:rPr b="1" lang="en-US" sz="134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Reconhecimento BPL inicial em março de 2019.</a:t>
            </a:r>
            <a:endParaRPr sz="1340">
              <a:solidFill>
                <a:srgbClr val="0054A6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794825" y="3035775"/>
            <a:ext cx="3063300" cy="984900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3995998" y="3276765"/>
            <a:ext cx="502800" cy="502800"/>
          </a:xfrm>
          <a:prstGeom prst="ellipse">
            <a:avLst/>
          </a:prstGeom>
          <a:solidFill>
            <a:srgbClr val="EEF7E5"/>
          </a:solidFill>
          <a:ln cap="flat" cmpd="sng" w="12700">
            <a:solidFill>
              <a:srgbClr val="EEF7E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995998" y="3285909"/>
            <a:ext cx="5028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C63F"/>
              </a:buClr>
              <a:buSzPts val="1400"/>
              <a:buFont typeface="Quattrocento Sans"/>
              <a:buNone/>
            </a:pPr>
            <a:r>
              <a:t/>
            </a:r>
            <a:endParaRPr sz="14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672650" y="3163725"/>
            <a:ext cx="18744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69"/>
              <a:buFont typeface="Sora"/>
              <a:buNone/>
            </a:pPr>
            <a:r>
              <a:rPr b="1" lang="en-US" sz="13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Equipe com mais de 130 colaboradores especializados.</a:t>
            </a:r>
            <a:endParaRPr sz="1300">
              <a:solidFill>
                <a:srgbClr val="0054A6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02927" y="4240116"/>
            <a:ext cx="6355200" cy="1170300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704158" y="4605810"/>
            <a:ext cx="438900" cy="438900"/>
          </a:xfrm>
          <a:prstGeom prst="ellipse">
            <a:avLst/>
          </a:prstGeom>
          <a:solidFill>
            <a:srgbClr val="EAF2F7"/>
          </a:solidFill>
          <a:ln cap="flat" cmpd="sng" w="12700">
            <a:solidFill>
              <a:srgbClr val="EAF2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704096" y="4614966"/>
            <a:ext cx="438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1400"/>
              <a:buFont typeface="Quattrocento Sans"/>
              <a:buNone/>
            </a:pPr>
            <a:r>
              <a:t/>
            </a:r>
            <a:endParaRPr sz="14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0" name="Google Shape;50;p4"/>
          <p:cNvGrpSpPr/>
          <p:nvPr/>
        </p:nvGrpSpPr>
        <p:grpSpPr>
          <a:xfrm>
            <a:off x="1280168" y="4464018"/>
            <a:ext cx="4846200" cy="722496"/>
            <a:chOff x="1325818" y="4212714"/>
            <a:chExt cx="4846200" cy="722496"/>
          </a:xfrm>
        </p:grpSpPr>
        <p:sp>
          <p:nvSpPr>
            <p:cNvPr id="51" name="Google Shape;51;p4"/>
            <p:cNvSpPr/>
            <p:nvPr/>
          </p:nvSpPr>
          <p:spPr>
            <a:xfrm>
              <a:off x="1325817" y="4212714"/>
              <a:ext cx="2743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54A6"/>
                </a:buClr>
                <a:buSzPts val="1100"/>
                <a:buFont typeface="Sora"/>
                <a:buNone/>
              </a:pPr>
              <a:r>
                <a:rPr b="1" lang="en-US" sz="1300">
                  <a:solidFill>
                    <a:srgbClr val="0054A6"/>
                  </a:solidFill>
                  <a:latin typeface="Sora"/>
                  <a:ea typeface="Sora"/>
                  <a:cs typeface="Sora"/>
                  <a:sym typeface="Sora"/>
                </a:rPr>
                <a:t>Alta qualidade científica</a:t>
              </a:r>
              <a:endPara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1325818" y="4523610"/>
              <a:ext cx="4846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E7185"/>
                </a:buClr>
                <a:buSzPts val="930"/>
                <a:buFont typeface="Sora"/>
                <a:buNone/>
              </a:pPr>
              <a:r>
                <a:rPr lang="en-US" sz="1130">
                  <a:solidFill>
                    <a:srgbClr val="5E7185"/>
                  </a:solidFill>
                  <a:latin typeface="Sora"/>
                  <a:ea typeface="Sora"/>
                  <a:cs typeface="Sora"/>
                  <a:sym typeface="Sora"/>
                </a:rPr>
                <a:t>Pesquisa científica aplicada com guias de teste e atuação em demandas específicas, inclusive incomuns aos pacotes de registro.</a:t>
              </a:r>
              <a:endParaRPr sz="113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pic>
        <p:nvPicPr>
          <p:cNvPr id="53" name="Google Shape;53;p4"/>
          <p:cNvPicPr preferRelativeResize="0"/>
          <p:nvPr/>
        </p:nvPicPr>
        <p:blipFill rotWithShape="1">
          <a:blip r:embed="rId4">
            <a:alphaModFix/>
          </a:blip>
          <a:srcRect b="0" l="-9510" r="9510" t="0"/>
          <a:stretch/>
        </p:blipFill>
        <p:spPr>
          <a:xfrm>
            <a:off x="786775" y="2094202"/>
            <a:ext cx="273676" cy="27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 title="Ativo 2@2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778" y="3354489"/>
            <a:ext cx="347674" cy="347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4" title="grou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4588" y="3345351"/>
            <a:ext cx="365750" cy="36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4339" y="4696053"/>
            <a:ext cx="258427" cy="25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 title="IMG_6092.jpg"/>
          <p:cNvPicPr preferRelativeResize="0"/>
          <p:nvPr/>
        </p:nvPicPr>
        <p:blipFill rotWithShape="1">
          <a:blip r:embed="rId8">
            <a:alphaModFix/>
          </a:blip>
          <a:srcRect b="0" l="16599" r="9790" t="0"/>
          <a:stretch/>
        </p:blipFill>
        <p:spPr>
          <a:xfrm>
            <a:off x="7056251" y="1139950"/>
            <a:ext cx="4846200" cy="4937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A43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62A4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Estrutura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INSTALAÇÃO DE TESTE LOCALIZADA EM CHARQUEADA/SP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66" name="Google Shape;66;p5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5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68" name="Google Shape;68;p5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5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03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055775" y="1572775"/>
            <a:ext cx="2614200" cy="1178700"/>
          </a:xfrm>
          <a:prstGeom prst="roundRect">
            <a:avLst>
              <a:gd fmla="val 5806" name="adj"/>
            </a:avLst>
          </a:prstGeom>
          <a:solidFill>
            <a:srgbClr val="163D5A"/>
          </a:solidFill>
          <a:ln cap="flat" cmpd="sng" w="12700">
            <a:solidFill>
              <a:srgbClr val="2858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" name="Google Shape;71;p5"/>
          <p:cNvGrpSpPr/>
          <p:nvPr/>
        </p:nvGrpSpPr>
        <p:grpSpPr>
          <a:xfrm>
            <a:off x="6757375" y="1760670"/>
            <a:ext cx="1792500" cy="872160"/>
            <a:chOff x="6757375" y="1724780"/>
            <a:chExt cx="1792500" cy="872160"/>
          </a:xfrm>
        </p:grpSpPr>
        <p:sp>
          <p:nvSpPr>
            <p:cNvPr id="72" name="Google Shape;72;p5"/>
            <p:cNvSpPr/>
            <p:nvPr/>
          </p:nvSpPr>
          <p:spPr>
            <a:xfrm>
              <a:off x="6757380" y="1724780"/>
              <a:ext cx="8688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60"/>
                <a:buFont typeface="Sora"/>
                <a:buNone/>
              </a:pPr>
              <a:r>
                <a:rPr b="1" lang="en-US" sz="136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11.000 m²</a:t>
              </a:r>
              <a:endParaRPr sz="136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757375" y="1911140"/>
              <a:ext cx="1792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D5E7"/>
                </a:buClr>
                <a:buSzPts val="760"/>
                <a:buFont typeface="Sora"/>
                <a:buNone/>
              </a:pPr>
              <a:r>
                <a:rPr lang="en-US" sz="1200">
                  <a:solidFill>
                    <a:srgbClr val="BFD5E7"/>
                  </a:solidFill>
                  <a:latin typeface="Sora"/>
                  <a:ea typeface="Sora"/>
                  <a:cs typeface="Sora"/>
                  <a:sym typeface="Sora"/>
                </a:rPr>
                <a:t>de área para suporte aos estudos e rotinas laboratoriais.</a:t>
              </a:r>
              <a:endParaRPr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4" name="Google Shape;74;p5"/>
          <p:cNvSpPr/>
          <p:nvPr/>
        </p:nvSpPr>
        <p:spPr>
          <a:xfrm>
            <a:off x="8869675" y="1572775"/>
            <a:ext cx="2779800" cy="1204500"/>
          </a:xfrm>
          <a:prstGeom prst="roundRect">
            <a:avLst>
              <a:gd fmla="val 5806" name="adj"/>
            </a:avLst>
          </a:prstGeom>
          <a:solidFill>
            <a:srgbClr val="163D5A"/>
          </a:solidFill>
          <a:ln cap="flat" cmpd="sng" w="12700">
            <a:solidFill>
              <a:srgbClr val="2858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5"/>
          <p:cNvGrpSpPr/>
          <p:nvPr/>
        </p:nvGrpSpPr>
        <p:grpSpPr>
          <a:xfrm>
            <a:off x="9564371" y="1760663"/>
            <a:ext cx="1792503" cy="828725"/>
            <a:chOff x="9564371" y="1646359"/>
            <a:chExt cx="1792503" cy="828725"/>
          </a:xfrm>
        </p:grpSpPr>
        <p:sp>
          <p:nvSpPr>
            <p:cNvPr id="76" name="Google Shape;76;p5"/>
            <p:cNvSpPr/>
            <p:nvPr/>
          </p:nvSpPr>
          <p:spPr>
            <a:xfrm>
              <a:off x="9564371" y="1646359"/>
              <a:ext cx="1463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47"/>
                <a:buFont typeface="Sora"/>
                <a:buNone/>
              </a:pPr>
              <a:r>
                <a:rPr b="1" lang="en-US" sz="1347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Expansão contínua</a:t>
              </a:r>
              <a:endParaRPr sz="1347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9564374" y="1999584"/>
              <a:ext cx="17925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FD5E7"/>
                </a:buClr>
                <a:buSzPts val="760"/>
                <a:buFont typeface="Sora"/>
                <a:buNone/>
              </a:pPr>
              <a:r>
                <a:rPr lang="en-US" sz="1160">
                  <a:solidFill>
                    <a:srgbClr val="BFD5E7"/>
                  </a:solidFill>
                  <a:latin typeface="Sora"/>
                  <a:ea typeface="Sora"/>
                  <a:cs typeface="Sora"/>
                  <a:sym typeface="Sora"/>
                </a:rPr>
                <a:t>Investimento constante em estrutura e tecnologia.</a:t>
              </a:r>
              <a:endParaRPr sz="116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pic>
        <p:nvPicPr>
          <p:cNvPr id="78" name="Google Shape;78;p5" title="Logo-SCi-Branca-Reduzida-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6374" y="258775"/>
            <a:ext cx="1159624" cy="58522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6055775" y="3193625"/>
            <a:ext cx="5570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Sora"/>
              <a:buNone/>
            </a:pPr>
            <a:r>
              <a:rPr b="1" lang="en-US" sz="132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Uma estrutura pensada para combinar capacidade operacional, confiabilidade técnica e resposta ágil às demandas do mercado.</a:t>
            </a:r>
            <a:endParaRPr sz="13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8984730" y="1955575"/>
            <a:ext cx="438900" cy="438900"/>
            <a:chOff x="9098280" y="1874520"/>
            <a:chExt cx="438900" cy="438900"/>
          </a:xfrm>
        </p:grpSpPr>
        <p:sp>
          <p:nvSpPr>
            <p:cNvPr id="81" name="Google Shape;81;p5"/>
            <p:cNvSpPr/>
            <p:nvPr/>
          </p:nvSpPr>
          <p:spPr>
            <a:xfrm>
              <a:off x="9098280" y="1874520"/>
              <a:ext cx="438900" cy="438900"/>
            </a:xfrm>
            <a:prstGeom prst="ellipse">
              <a:avLst/>
            </a:prstGeom>
            <a:solidFill>
              <a:srgbClr val="1F4C6D"/>
            </a:solidFill>
            <a:ln cap="flat" cmpd="sng" w="12700">
              <a:solidFill>
                <a:srgbClr val="1F4C6D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" name="Google Shape;82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7155" y="1993401"/>
              <a:ext cx="201149" cy="2011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" name="Google Shape;83;p5"/>
          <p:cNvGrpSpPr/>
          <p:nvPr/>
        </p:nvGrpSpPr>
        <p:grpSpPr>
          <a:xfrm>
            <a:off x="6190500" y="1942669"/>
            <a:ext cx="438912" cy="438912"/>
            <a:chOff x="6629400" y="1874520"/>
            <a:chExt cx="438912" cy="438912"/>
          </a:xfrm>
        </p:grpSpPr>
        <p:sp>
          <p:nvSpPr>
            <p:cNvPr id="84" name="Google Shape;84;p5"/>
            <p:cNvSpPr/>
            <p:nvPr/>
          </p:nvSpPr>
          <p:spPr>
            <a:xfrm>
              <a:off x="6629400" y="1874520"/>
              <a:ext cx="438912" cy="438912"/>
            </a:xfrm>
            <a:prstGeom prst="ellipse">
              <a:avLst/>
            </a:prstGeom>
            <a:solidFill>
              <a:srgbClr val="1F4C6D"/>
            </a:solidFill>
            <a:ln cap="flat" cmpd="sng" w="12700">
              <a:solidFill>
                <a:srgbClr val="1F4C6D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5" name="Google Shape;85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4550" y="1979613"/>
              <a:ext cx="228601" cy="2287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6" name="Google Shape;86;p5"/>
          <p:cNvPicPr preferRelativeResize="0"/>
          <p:nvPr/>
        </p:nvPicPr>
        <p:blipFill>
          <a:blip r:embed="rId6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5"/>
          <p:cNvPicPr preferRelativeResize="0"/>
          <p:nvPr/>
        </p:nvPicPr>
        <p:blipFill rotWithShape="1">
          <a:blip r:embed="rId7">
            <a:alphaModFix/>
          </a:blip>
          <a:srcRect b="10587" l="0" r="21316" t="0"/>
          <a:stretch/>
        </p:blipFill>
        <p:spPr>
          <a:xfrm>
            <a:off x="502925" y="1546813"/>
            <a:ext cx="4987500" cy="4136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F5F8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Qualidade e acompanhamento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TRANSPARÊNCIA NA CONDUÇÃO DOS PROJETOS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6" name="Google Shape;96;p6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6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8" name="Google Shape;98;p6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6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04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/mnt/data/old_pptx_unzip/ppt/media/image26.png" id="100" name="Google Shape;100;p6"/>
          <p:cNvPicPr preferRelativeResize="0"/>
          <p:nvPr/>
        </p:nvPicPr>
        <p:blipFill rotWithShape="1">
          <a:blip r:embed="rId3">
            <a:alphaModFix/>
          </a:blip>
          <a:srcRect b="21301" l="10321" r="24519" t="11053"/>
          <a:stretch/>
        </p:blipFill>
        <p:spPr>
          <a:xfrm>
            <a:off x="502925" y="1723650"/>
            <a:ext cx="5166300" cy="31926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" name="Google Shape;101;p6"/>
          <p:cNvSpPr/>
          <p:nvPr/>
        </p:nvSpPr>
        <p:spPr>
          <a:xfrm>
            <a:off x="5989320" y="1554480"/>
            <a:ext cx="2514600" cy="1024200"/>
          </a:xfrm>
          <a:prstGeom prst="roundRect">
            <a:avLst>
              <a:gd fmla="val 8036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6"/>
          <p:cNvGrpSpPr/>
          <p:nvPr/>
        </p:nvGrpSpPr>
        <p:grpSpPr>
          <a:xfrm>
            <a:off x="6739125" y="1723652"/>
            <a:ext cx="1764900" cy="685783"/>
            <a:chOff x="6739125" y="1764792"/>
            <a:chExt cx="1764900" cy="685783"/>
          </a:xfrm>
        </p:grpSpPr>
        <p:sp>
          <p:nvSpPr>
            <p:cNvPr id="103" name="Google Shape;103;p6"/>
            <p:cNvSpPr/>
            <p:nvPr/>
          </p:nvSpPr>
          <p:spPr>
            <a:xfrm>
              <a:off x="6739128" y="1764792"/>
              <a:ext cx="1554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1050"/>
                <a:buFont typeface="Sora"/>
                <a:buNone/>
              </a:pPr>
              <a:r>
                <a:rPr b="1" lang="en-US" sz="1250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PMO</a:t>
              </a:r>
              <a:endParaRPr sz="125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739125" y="2029975"/>
              <a:ext cx="17649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E7185"/>
                </a:buClr>
                <a:buSzPts val="703"/>
                <a:buFont typeface="Sora"/>
                <a:buNone/>
              </a:pPr>
              <a:r>
                <a:rPr lang="en-US" sz="1003">
                  <a:solidFill>
                    <a:srgbClr val="5E7185"/>
                  </a:solidFill>
                  <a:latin typeface="Sora"/>
                  <a:ea typeface="Sora"/>
                  <a:cs typeface="Sora"/>
                  <a:sym typeface="Sora"/>
                </a:rPr>
                <a:t>Responsável pelo acompanhamento dos projetos.</a:t>
              </a:r>
              <a:endParaRPr sz="1003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5" name="Google Shape;105;p6"/>
          <p:cNvSpPr/>
          <p:nvPr/>
        </p:nvSpPr>
        <p:spPr>
          <a:xfrm>
            <a:off x="8823960" y="1554480"/>
            <a:ext cx="2514600" cy="1024200"/>
          </a:xfrm>
          <a:prstGeom prst="roundRect">
            <a:avLst>
              <a:gd fmla="val 8036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6"/>
          <p:cNvGrpSpPr/>
          <p:nvPr/>
        </p:nvGrpSpPr>
        <p:grpSpPr>
          <a:xfrm>
            <a:off x="9573768" y="1723652"/>
            <a:ext cx="1554480" cy="685785"/>
            <a:chOff x="9573768" y="1764792"/>
            <a:chExt cx="1554480" cy="685785"/>
          </a:xfrm>
        </p:grpSpPr>
        <p:sp>
          <p:nvSpPr>
            <p:cNvPr id="107" name="Google Shape;107;p6"/>
            <p:cNvSpPr/>
            <p:nvPr/>
          </p:nvSpPr>
          <p:spPr>
            <a:xfrm>
              <a:off x="9573768" y="1764792"/>
              <a:ext cx="1554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1050"/>
                <a:buFont typeface="Sora"/>
                <a:buNone/>
              </a:pPr>
              <a:r>
                <a:rPr b="1" lang="en-US" sz="1250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Portal do cliente</a:t>
              </a:r>
              <a:endParaRPr sz="125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9573775" y="2029977"/>
              <a:ext cx="15087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E7185"/>
                </a:buClr>
                <a:buSzPts val="760"/>
                <a:buFont typeface="Sora"/>
                <a:buNone/>
              </a:pPr>
              <a:r>
                <a:rPr lang="en-US" sz="1000">
                  <a:solidFill>
                    <a:srgbClr val="5E7185"/>
                  </a:solidFill>
                  <a:latin typeface="Sora"/>
                  <a:ea typeface="Sora"/>
                  <a:cs typeface="Sora"/>
                  <a:sym typeface="Sora"/>
                </a:rPr>
                <a:t>Status dos projetos e acesso a relatórios pelo site.</a:t>
              </a:r>
              <a:endPara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9" name="Google Shape;109;p6"/>
          <p:cNvSpPr/>
          <p:nvPr/>
        </p:nvSpPr>
        <p:spPr>
          <a:xfrm>
            <a:off x="5989320" y="2971800"/>
            <a:ext cx="2514600" cy="1024200"/>
          </a:xfrm>
          <a:prstGeom prst="roundRect">
            <a:avLst>
              <a:gd fmla="val 8036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6"/>
          <p:cNvGrpSpPr/>
          <p:nvPr/>
        </p:nvGrpSpPr>
        <p:grpSpPr>
          <a:xfrm>
            <a:off x="6739125" y="3140968"/>
            <a:ext cx="1554483" cy="685791"/>
            <a:chOff x="6739125" y="3182112"/>
            <a:chExt cx="1554483" cy="685791"/>
          </a:xfrm>
        </p:grpSpPr>
        <p:sp>
          <p:nvSpPr>
            <p:cNvPr id="111" name="Google Shape;111;p6"/>
            <p:cNvSpPr/>
            <p:nvPr/>
          </p:nvSpPr>
          <p:spPr>
            <a:xfrm>
              <a:off x="6739128" y="3182112"/>
              <a:ext cx="1554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1050"/>
                <a:buFont typeface="Sora"/>
                <a:buNone/>
              </a:pPr>
              <a:r>
                <a:rPr b="1" lang="en-US" sz="1250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Time técnico</a:t>
              </a:r>
              <a:endParaRPr sz="125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39125" y="3447303"/>
              <a:ext cx="15087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E7185"/>
                </a:buClr>
                <a:buSzPts val="760"/>
                <a:buFont typeface="Sora"/>
                <a:buNone/>
              </a:pPr>
              <a:r>
                <a:rPr lang="en-US" sz="1000">
                  <a:solidFill>
                    <a:srgbClr val="5E7185"/>
                  </a:solidFill>
                  <a:latin typeface="Sora"/>
                  <a:ea typeface="Sora"/>
                  <a:cs typeface="Sora"/>
                  <a:sym typeface="Sora"/>
                </a:rPr>
                <a:t>Profissionais experientes e contato ágil.</a:t>
              </a:r>
              <a:endPara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3" name="Google Shape;113;p6"/>
          <p:cNvSpPr/>
          <p:nvPr/>
        </p:nvSpPr>
        <p:spPr>
          <a:xfrm>
            <a:off x="8823960" y="2971800"/>
            <a:ext cx="2514600" cy="1024200"/>
          </a:xfrm>
          <a:prstGeom prst="roundRect">
            <a:avLst>
              <a:gd fmla="val 8036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" name="Google Shape;114;p6"/>
          <p:cNvGrpSpPr/>
          <p:nvPr/>
        </p:nvGrpSpPr>
        <p:grpSpPr>
          <a:xfrm>
            <a:off x="9573768" y="3195828"/>
            <a:ext cx="1554480" cy="576072"/>
            <a:chOff x="9573768" y="3182112"/>
            <a:chExt cx="1554480" cy="576072"/>
          </a:xfrm>
        </p:grpSpPr>
        <p:sp>
          <p:nvSpPr>
            <p:cNvPr id="115" name="Google Shape;115;p6"/>
            <p:cNvSpPr/>
            <p:nvPr/>
          </p:nvSpPr>
          <p:spPr>
            <a:xfrm>
              <a:off x="9573768" y="3182112"/>
              <a:ext cx="1554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1050"/>
                <a:buFont typeface="Sora"/>
                <a:buNone/>
              </a:pPr>
              <a:r>
                <a:rPr b="1" lang="en-US" sz="1250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Idiomas</a:t>
              </a:r>
              <a:endParaRPr sz="125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9573768" y="3447288"/>
              <a:ext cx="1508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E7185"/>
                </a:buClr>
                <a:buSzPts val="760"/>
                <a:buFont typeface="Sora"/>
                <a:buNone/>
              </a:pPr>
              <a:r>
                <a:rPr lang="en-US" sz="1000">
                  <a:solidFill>
                    <a:srgbClr val="5E7185"/>
                  </a:solidFill>
                  <a:latin typeface="Sora"/>
                  <a:ea typeface="Sora"/>
                  <a:cs typeface="Sora"/>
                  <a:sym typeface="Sora"/>
                </a:rPr>
                <a:t>Emissão simultânea quando necessário.</a:t>
              </a:r>
              <a:endPara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7" name="Google Shape;117;p6"/>
          <p:cNvSpPr/>
          <p:nvPr/>
        </p:nvSpPr>
        <p:spPr>
          <a:xfrm>
            <a:off x="6035020" y="4233667"/>
            <a:ext cx="53034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1270"/>
              <a:buFont typeface="Sora"/>
              <a:buNone/>
            </a:pPr>
            <a:r>
              <a:rPr b="1" lang="en-US" sz="127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Acompanhamento estruturado para reduzir ruído, ganhar previsibilidade e manter o patrocinador sempre próximo da operação.</a:t>
            </a:r>
            <a:endParaRPr sz="127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18" name="Google Shape;118;p6"/>
          <p:cNvGrpSpPr/>
          <p:nvPr/>
        </p:nvGrpSpPr>
        <p:grpSpPr>
          <a:xfrm>
            <a:off x="9025128" y="3273552"/>
            <a:ext cx="420624" cy="420624"/>
            <a:chOff x="9025128" y="3227832"/>
            <a:chExt cx="420624" cy="420624"/>
          </a:xfrm>
        </p:grpSpPr>
        <p:sp>
          <p:nvSpPr>
            <p:cNvPr id="119" name="Google Shape;119;p6"/>
            <p:cNvSpPr/>
            <p:nvPr/>
          </p:nvSpPr>
          <p:spPr>
            <a:xfrm>
              <a:off x="9025128" y="3227832"/>
              <a:ext cx="420624" cy="420624"/>
            </a:xfrm>
            <a:prstGeom prst="ellipse">
              <a:avLst/>
            </a:prstGeom>
            <a:solidFill>
              <a:srgbClr val="EEF7E5"/>
            </a:solidFill>
            <a:ln cap="flat" cmpd="sng" w="12700">
              <a:solidFill>
                <a:srgbClr val="EEF7E5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0" name="Google Shape;120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108725" y="3311427"/>
              <a:ext cx="253425" cy="253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6"/>
          <p:cNvGrpSpPr/>
          <p:nvPr/>
        </p:nvGrpSpPr>
        <p:grpSpPr>
          <a:xfrm>
            <a:off x="9025128" y="1856232"/>
            <a:ext cx="420624" cy="420624"/>
            <a:chOff x="9025128" y="1810512"/>
            <a:chExt cx="420624" cy="420624"/>
          </a:xfrm>
        </p:grpSpPr>
        <p:sp>
          <p:nvSpPr>
            <p:cNvPr id="122" name="Google Shape;122;p6"/>
            <p:cNvSpPr/>
            <p:nvPr/>
          </p:nvSpPr>
          <p:spPr>
            <a:xfrm>
              <a:off x="9025128" y="1810512"/>
              <a:ext cx="420624" cy="420624"/>
            </a:xfrm>
            <a:prstGeom prst="ellipse">
              <a:avLst/>
            </a:prstGeom>
            <a:solidFill>
              <a:srgbClr val="EEF7E5"/>
            </a:solidFill>
            <a:ln cap="flat" cmpd="sng" w="12700">
              <a:solidFill>
                <a:srgbClr val="EEF7E5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3" name="Google Shape;123;p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108719" y="1894650"/>
              <a:ext cx="253425" cy="2450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" name="Google Shape;124;p6"/>
          <p:cNvGrpSpPr/>
          <p:nvPr/>
        </p:nvGrpSpPr>
        <p:grpSpPr>
          <a:xfrm>
            <a:off x="6190488" y="1856232"/>
            <a:ext cx="420624" cy="420624"/>
            <a:chOff x="6190488" y="1810512"/>
            <a:chExt cx="420624" cy="420624"/>
          </a:xfrm>
        </p:grpSpPr>
        <p:sp>
          <p:nvSpPr>
            <p:cNvPr id="125" name="Google Shape;125;p6"/>
            <p:cNvSpPr/>
            <p:nvPr/>
          </p:nvSpPr>
          <p:spPr>
            <a:xfrm>
              <a:off x="6190488" y="1810512"/>
              <a:ext cx="420624" cy="420624"/>
            </a:xfrm>
            <a:prstGeom prst="ellipse">
              <a:avLst/>
            </a:prstGeom>
            <a:solidFill>
              <a:srgbClr val="EAF2F7"/>
            </a:solidFill>
            <a:ln cap="flat" cmpd="sng" w="12700">
              <a:solidFill>
                <a:srgbClr val="EAF2F7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6" name="Google Shape;126;p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304076" y="1925713"/>
              <a:ext cx="193459" cy="18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6"/>
          <p:cNvGrpSpPr/>
          <p:nvPr/>
        </p:nvGrpSpPr>
        <p:grpSpPr>
          <a:xfrm>
            <a:off x="6190488" y="3273552"/>
            <a:ext cx="420624" cy="420624"/>
            <a:chOff x="6190488" y="3227832"/>
            <a:chExt cx="420624" cy="420624"/>
          </a:xfrm>
        </p:grpSpPr>
        <p:sp>
          <p:nvSpPr>
            <p:cNvPr id="128" name="Google Shape;128;p6"/>
            <p:cNvSpPr/>
            <p:nvPr/>
          </p:nvSpPr>
          <p:spPr>
            <a:xfrm>
              <a:off x="6190488" y="3227832"/>
              <a:ext cx="420624" cy="420624"/>
            </a:xfrm>
            <a:prstGeom prst="ellipse">
              <a:avLst/>
            </a:prstGeom>
            <a:solidFill>
              <a:srgbClr val="EAF2F7"/>
            </a:solidFill>
            <a:ln cap="flat" cmpd="sng" w="12700">
              <a:solidFill>
                <a:srgbClr val="EAF2F7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9" name="Google Shape;129;p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274095" y="3311420"/>
              <a:ext cx="253425" cy="2534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0" name="Google Shape;130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A43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9966960" y="5212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260"/>
              </a:buClr>
              <a:buSzPts val="8200"/>
              <a:buFont typeface="Sora"/>
              <a:buNone/>
            </a:pPr>
            <a:r>
              <a:rPr b="1" lang="en-US" sz="8200">
                <a:solidFill>
                  <a:srgbClr val="174260"/>
                </a:solidFill>
                <a:latin typeface="Sora"/>
                <a:ea typeface="Sora"/>
                <a:cs typeface="Sora"/>
                <a:sym typeface="Sora"/>
              </a:rPr>
              <a:t>A</a:t>
            </a:r>
            <a:endParaRPr sz="8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Nossos serviços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ESCOPO TÉCNICO PARA DIFERENTES DEMANDAS REGULATÓRIAS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39" name="Google Shape;139;p7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7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41" name="Google Shape;141;p7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7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05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02925" y="1780238"/>
            <a:ext cx="1948800" cy="768000"/>
          </a:xfrm>
          <a:prstGeom prst="roundRect">
            <a:avLst>
              <a:gd fmla="val 10976" name="adj"/>
            </a:avLst>
          </a:prstGeom>
          <a:solidFill>
            <a:srgbClr val="163D5A"/>
          </a:solidFill>
          <a:ln cap="flat" cmpd="sng" w="13000">
            <a:solidFill>
              <a:srgbClr val="2858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75" lIns="93675" spcFirstLastPara="1" rIns="93675" wrap="square" tIns="9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652824" y="2061296"/>
            <a:ext cx="5151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C63F"/>
              </a:buClr>
              <a:buSzPts val="820"/>
              <a:buFont typeface="Sora"/>
              <a:buNone/>
            </a:pPr>
            <a:r>
              <a:rPr b="1" lang="en-US" sz="820">
                <a:solidFill>
                  <a:srgbClr val="8CC63F"/>
                </a:solidFill>
                <a:latin typeface="Sora"/>
                <a:ea typeface="Sora"/>
                <a:cs typeface="Sora"/>
                <a:sym typeface="Sora"/>
              </a:rPr>
              <a:t>5-batch</a:t>
            </a:r>
            <a:endParaRPr sz="8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177468" y="2005085"/>
            <a:ext cx="1096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b="1" lang="en-US" sz="1004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Análise de 5-batch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2770137" y="1780238"/>
            <a:ext cx="1948800" cy="768000"/>
          </a:xfrm>
          <a:prstGeom prst="roundRect">
            <a:avLst>
              <a:gd fmla="val 10976" name="adj"/>
            </a:avLst>
          </a:prstGeom>
          <a:solidFill>
            <a:srgbClr val="163D5A"/>
          </a:solidFill>
          <a:ln cap="flat" cmpd="sng" w="13000">
            <a:solidFill>
              <a:srgbClr val="2858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75" lIns="93675" spcFirstLastPara="1" rIns="93675" wrap="square" tIns="9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444705" y="2005134"/>
            <a:ext cx="1096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b="1" lang="en-US" sz="1004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Estudos de Genotoxicidade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037348" y="1780238"/>
            <a:ext cx="1948800" cy="768000"/>
          </a:xfrm>
          <a:prstGeom prst="roundRect">
            <a:avLst>
              <a:gd fmla="val 10976" name="adj"/>
            </a:avLst>
          </a:prstGeom>
          <a:solidFill>
            <a:srgbClr val="163D5A"/>
          </a:solidFill>
          <a:ln cap="flat" cmpd="sng" w="13000">
            <a:solidFill>
              <a:srgbClr val="2858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75" lIns="93675" spcFirstLastPara="1" rIns="93675" wrap="square" tIns="9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707216" y="2005134"/>
            <a:ext cx="1096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b="1" lang="en-US" sz="1004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Estudos Físico-Químicos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02951" y="3044951"/>
            <a:ext cx="1948800" cy="768000"/>
          </a:xfrm>
          <a:prstGeom prst="roundRect">
            <a:avLst>
              <a:gd fmla="val 10976" name="adj"/>
            </a:avLst>
          </a:prstGeom>
          <a:solidFill>
            <a:srgbClr val="163D5A"/>
          </a:solidFill>
          <a:ln cap="flat" cmpd="sng" w="13000">
            <a:solidFill>
              <a:srgbClr val="2858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75" lIns="93675" spcFirstLastPara="1" rIns="93675" wrap="square" tIns="9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1177455" y="3269791"/>
            <a:ext cx="11880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b="1" lang="en-US" sz="1004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Estudos Ecotoxicológicos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770137" y="3045002"/>
            <a:ext cx="1948800" cy="768000"/>
          </a:xfrm>
          <a:prstGeom prst="roundRect">
            <a:avLst>
              <a:gd fmla="val 10976" name="adj"/>
            </a:avLst>
          </a:prstGeom>
          <a:solidFill>
            <a:srgbClr val="163D5A"/>
          </a:solidFill>
          <a:ln cap="flat" cmpd="sng" w="13000">
            <a:solidFill>
              <a:srgbClr val="2858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75" lIns="93675" spcFirstLastPara="1" rIns="93675" wrap="square" tIns="9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444679" y="3269898"/>
            <a:ext cx="1096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9"/>
              <a:buFont typeface="Sora"/>
              <a:buNone/>
            </a:pPr>
            <a:r>
              <a:rPr b="1" lang="en-US" sz="944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Estudos Toxicológicos in vivo &amp; in vitro</a:t>
            </a:r>
            <a:endParaRPr sz="94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037348" y="3045002"/>
            <a:ext cx="1948800" cy="768000"/>
          </a:xfrm>
          <a:prstGeom prst="roundRect">
            <a:avLst>
              <a:gd fmla="val 10976" name="adj"/>
            </a:avLst>
          </a:prstGeom>
          <a:solidFill>
            <a:srgbClr val="163D5A"/>
          </a:solidFill>
          <a:ln cap="flat" cmpd="sng" w="13000">
            <a:solidFill>
              <a:srgbClr val="2858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75" lIns="93675" spcFirstLastPara="1" rIns="93675" wrap="square" tIns="9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5711891" y="3269843"/>
            <a:ext cx="1096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b="1" lang="en-US" sz="1004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Microbiologia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02925" y="4309766"/>
            <a:ext cx="1948800" cy="768000"/>
          </a:xfrm>
          <a:prstGeom prst="roundRect">
            <a:avLst>
              <a:gd fmla="val 10976" name="adj"/>
            </a:avLst>
          </a:prstGeom>
          <a:solidFill>
            <a:srgbClr val="163D5A"/>
          </a:solidFill>
          <a:ln cap="flat" cmpd="sng" w="13000">
            <a:solidFill>
              <a:srgbClr val="2858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75" lIns="93675" spcFirstLastPara="1" rIns="93675" wrap="square" tIns="9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177468" y="4534613"/>
            <a:ext cx="1096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b="1" lang="en-US" sz="1004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Toxicologia in silico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770137" y="4309766"/>
            <a:ext cx="1948800" cy="768000"/>
          </a:xfrm>
          <a:prstGeom prst="roundRect">
            <a:avLst>
              <a:gd fmla="val 10976" name="adj"/>
            </a:avLst>
          </a:prstGeom>
          <a:solidFill>
            <a:srgbClr val="163D5A"/>
          </a:solidFill>
          <a:ln cap="flat" cmpd="sng" w="13000">
            <a:solidFill>
              <a:srgbClr val="2858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75" lIns="93675" spcFirstLastPara="1" rIns="93675" wrap="square" tIns="9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444679" y="4534662"/>
            <a:ext cx="1096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b="1" lang="en-US" sz="1004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Resíduos de Pesticidas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037348" y="4309766"/>
            <a:ext cx="1948800" cy="768000"/>
          </a:xfrm>
          <a:prstGeom prst="roundRect">
            <a:avLst>
              <a:gd fmla="val 10976" name="adj"/>
            </a:avLst>
          </a:prstGeom>
          <a:solidFill>
            <a:srgbClr val="163D5A"/>
          </a:solidFill>
          <a:ln cap="flat" cmpd="sng" w="13000">
            <a:solidFill>
              <a:srgbClr val="2858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75" lIns="93675" spcFirstLastPara="1" rIns="93675" wrap="square" tIns="9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5711891" y="4534607"/>
            <a:ext cx="1096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b="1" lang="en-US" sz="1004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P&amp;D e treinamentos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62" name="Google Shape;1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0998" y="1963242"/>
            <a:ext cx="483491" cy="402219"/>
          </a:xfrm>
          <a:prstGeom prst="rect">
            <a:avLst/>
          </a:prstGeom>
          <a:solidFill>
            <a:srgbClr val="163D5A"/>
          </a:solidFill>
          <a:ln>
            <a:noFill/>
          </a:ln>
        </p:spPr>
      </p:pic>
      <p:pic>
        <p:nvPicPr>
          <p:cNvPr id="163" name="Google Shape;1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0470" y="1987721"/>
            <a:ext cx="307357" cy="353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421" y="3203851"/>
            <a:ext cx="483492" cy="450315"/>
          </a:xfrm>
          <a:prstGeom prst="rect">
            <a:avLst/>
          </a:prstGeom>
          <a:solidFill>
            <a:srgbClr val="163D5A"/>
          </a:solidFill>
          <a:ln>
            <a:noFill/>
          </a:ln>
        </p:spPr>
      </p:pic>
      <p:pic>
        <p:nvPicPr>
          <p:cNvPr id="165" name="Google Shape;165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60966" y="3216516"/>
            <a:ext cx="483492" cy="42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91839" y="4394079"/>
            <a:ext cx="421788" cy="599601"/>
          </a:xfrm>
          <a:prstGeom prst="rect">
            <a:avLst/>
          </a:prstGeom>
          <a:solidFill>
            <a:srgbClr val="163D5A"/>
          </a:solidFill>
          <a:ln>
            <a:noFill/>
          </a:ln>
        </p:spPr>
      </p:pic>
      <p:pic>
        <p:nvPicPr>
          <p:cNvPr id="167" name="Google Shape;167;p7" title="research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36025" y="4482943"/>
            <a:ext cx="421788" cy="42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7" title="microbiology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23577" y="3218155"/>
            <a:ext cx="421788" cy="421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7" title="molecul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9421" y="4492308"/>
            <a:ext cx="421788" cy="42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11">
            <a:alphaModFix/>
          </a:blip>
          <a:srcRect b="0" l="12891" r="48316" t="0"/>
          <a:stretch/>
        </p:blipFill>
        <p:spPr>
          <a:xfrm>
            <a:off x="7470750" y="0"/>
            <a:ext cx="4727225" cy="6858001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ogo-Sci-Reduzida-Colorida-PNG.png" id="177" name="Google Shape;17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Análise de 5-batch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ROBUSTEZ PARA PRODUTOS TÉCNICOS E FITOQUÍMICOS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80" name="Google Shape;180;p8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8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82" name="Google Shape;182;p8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8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06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/mnt/data/old_pptx_unzip/ppt/media/image34.png" id="184" name="Google Shape;184;p8"/>
          <p:cNvPicPr preferRelativeResize="0"/>
          <p:nvPr/>
        </p:nvPicPr>
        <p:blipFill rotWithShape="1">
          <a:blip r:embed="rId5">
            <a:alphaModFix/>
          </a:blip>
          <a:srcRect b="-1460" l="0" r="0" t="1460"/>
          <a:stretch/>
        </p:blipFill>
        <p:spPr>
          <a:xfrm>
            <a:off x="594350" y="1526575"/>
            <a:ext cx="2788924" cy="21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old_pptx_unzip/ppt/media/image33.jpeg" id="185" name="Google Shape;185;p8"/>
          <p:cNvPicPr preferRelativeResize="0"/>
          <p:nvPr/>
        </p:nvPicPr>
        <p:blipFill rotWithShape="1">
          <a:blip r:embed="rId6">
            <a:alphaModFix/>
          </a:blip>
          <a:srcRect b="38479" l="0" r="0" t="12047"/>
          <a:stretch/>
        </p:blipFill>
        <p:spPr>
          <a:xfrm>
            <a:off x="619635" y="3643882"/>
            <a:ext cx="2788920" cy="178308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/>
          <p:nvPr/>
        </p:nvSpPr>
        <p:spPr>
          <a:xfrm>
            <a:off x="3891800" y="1551475"/>
            <a:ext cx="3194700" cy="23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20"/>
              <a:buFont typeface="Sora"/>
              <a:buChar char="•"/>
            </a:pPr>
            <a:r>
              <a:rPr lang="en-US" sz="13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Atendimento a diversos órgãos regulatórios: SENAVE, SENASA, COFEPRIS, EU, EPA, entre outros.</a:t>
            </a:r>
            <a:endParaRPr sz="13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20"/>
              <a:buFont typeface="Sora"/>
              <a:buChar char="•"/>
            </a:pPr>
            <a:r>
              <a:rPr lang="en-US" sz="13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Time experiente na condução dos estudos e interpretação técnica dos dados.</a:t>
            </a:r>
            <a:endParaRPr sz="13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20"/>
              <a:buFont typeface="Sora"/>
              <a:buChar char="•"/>
            </a:pPr>
            <a:r>
              <a:rPr lang="en-US" sz="13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Isolamento e certificação dos padrões de impurezas com identificação inequívoca.</a:t>
            </a:r>
            <a:endParaRPr sz="13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886200" y="4197100"/>
            <a:ext cx="3194700" cy="1021200"/>
          </a:xfrm>
          <a:prstGeom prst="roundRect">
            <a:avLst>
              <a:gd fmla="val 7826" name="adj"/>
            </a:avLst>
          </a:prstGeom>
          <a:solidFill>
            <a:srgbClr val="FFF7EF"/>
          </a:solidFill>
          <a:ln cap="flat" cmpd="sng" w="12700">
            <a:solidFill>
              <a:srgbClr val="FAD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4133100" y="4373050"/>
            <a:ext cx="25878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931E"/>
              </a:buClr>
              <a:buSzPts val="1140"/>
              <a:buFont typeface="Sora"/>
              <a:buNone/>
            </a:pPr>
            <a:r>
              <a:rPr b="1" lang="en-US" sz="1640">
                <a:solidFill>
                  <a:srgbClr val="F7931E"/>
                </a:solidFill>
                <a:latin typeface="Sora"/>
                <a:ea typeface="Sora"/>
                <a:cs typeface="Sora"/>
                <a:sym typeface="Sora"/>
              </a:rPr>
              <a:t>Vantagem para produtos fitoquímicos.</a:t>
            </a:r>
            <a:endParaRPr sz="16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89" name="Google Shape;189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05825" y="1633188"/>
            <a:ext cx="4788900" cy="3591600"/>
          </a:xfrm>
          <a:prstGeom prst="roundRect">
            <a:avLst>
              <a:gd fmla="val 16667" name="adj"/>
            </a:avLst>
          </a:prstGeom>
          <a:solidFill>
            <a:srgbClr val="F5F8FB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ogo-Sci-Reduzida-Colorida-PNG.png"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Estudos Físico-Químicos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MAIS DE 63 ESTUDOS EM ESCOPO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98" name="Google Shape;198;p9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9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00" name="Google Shape;200;p9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9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07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02925" y="1535750"/>
            <a:ext cx="4846200" cy="21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4605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Escopo extenso para atender requerimentos do Brasil, Europa e países da América do Sul.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4605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Inclui estudos como explosividade, constante de Henry, incompatibilidade química e auto-ignição.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4605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Avaliação crítica dos guias de teste para cada tipo de formulação.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4605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Investimento em equipamentos modernos para agilidade e precisão.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25725" y="3905773"/>
            <a:ext cx="4800600" cy="1151700"/>
          </a:xfrm>
          <a:prstGeom prst="roundRect">
            <a:avLst>
              <a:gd fmla="val 10465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772625" y="4134364"/>
            <a:ext cx="42519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806"/>
              <a:buFont typeface="Sora"/>
              <a:buNone/>
            </a:pPr>
            <a:r>
              <a:rPr b="1" lang="en-US" sz="1306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Aplicação técnica precisa dos guias: uma camada a menos de incerteza no pacote regulatório.</a:t>
            </a:r>
            <a:endParaRPr sz="1306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05" name="Google Shape;205;p9" title="IMG_6061.jpg"/>
          <p:cNvPicPr preferRelativeResize="0"/>
          <p:nvPr/>
        </p:nvPicPr>
        <p:blipFill rotWithShape="1">
          <a:blip r:embed="rId4">
            <a:alphaModFix/>
          </a:blip>
          <a:srcRect b="20705" l="0" r="0" t="21071"/>
          <a:stretch/>
        </p:blipFill>
        <p:spPr>
          <a:xfrm>
            <a:off x="8915975" y="1207000"/>
            <a:ext cx="2269774" cy="2349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9" title="IMG_5970.jpg"/>
          <p:cNvPicPr preferRelativeResize="0"/>
          <p:nvPr/>
        </p:nvPicPr>
        <p:blipFill rotWithShape="1">
          <a:blip r:embed="rId5">
            <a:alphaModFix/>
          </a:blip>
          <a:srcRect b="-1142" l="16189" r="36530" t="11254"/>
          <a:stretch/>
        </p:blipFill>
        <p:spPr>
          <a:xfrm>
            <a:off x="8915975" y="3737588"/>
            <a:ext cx="2269773" cy="242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9" title="IMG_5978.jpg"/>
          <p:cNvPicPr preferRelativeResize="0"/>
          <p:nvPr/>
        </p:nvPicPr>
        <p:blipFill rotWithShape="1">
          <a:blip r:embed="rId6">
            <a:alphaModFix/>
          </a:blip>
          <a:srcRect b="0" l="0" r="27405" t="0"/>
          <a:stretch/>
        </p:blipFill>
        <p:spPr>
          <a:xfrm>
            <a:off x="5653388" y="3510275"/>
            <a:ext cx="3132698" cy="242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9" title="IMG_6027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53387" y="987549"/>
            <a:ext cx="3132698" cy="234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A43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Laboratório Físico-Químico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ESTRUTURA ANALÍTICA MODERNA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17" name="Google Shape;217;p10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0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19" name="Google Shape;219;p10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10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08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7513825" y="2011675"/>
            <a:ext cx="3687600" cy="10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72"/>
              <a:buFont typeface="Sora"/>
              <a:buNone/>
            </a:pPr>
            <a:r>
              <a:rPr b="1" lang="en-US" sz="1673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Equipamentos, equipe e método trabalhando como uma única engrenagem técnica.</a:t>
            </a:r>
            <a:endParaRPr sz="1673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7513825" y="3145525"/>
            <a:ext cx="3184800" cy="9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50"/>
              <a:buFont typeface="Sora"/>
              <a:buNone/>
            </a:pPr>
            <a:r>
              <a:rPr lang="en-US" sz="125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Ambiente preparado para estudos que exigem precisão, rastreabilidade e controle em cada etapa.</a:t>
            </a:r>
            <a:endParaRPr sz="12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23" name="Google Shape;223;p10" title="Logo-SCi-Branca-Reduzida-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0"/>
          <p:cNvPicPr preferRelativeResize="0"/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 title="IMG_5977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5575" y="4347000"/>
            <a:ext cx="3525642" cy="198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0" title="IMG_6014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5575" y="1466075"/>
            <a:ext cx="3525652" cy="264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0" title="IMG_6070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2921" y="1466068"/>
            <a:ext cx="2743200" cy="4876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ogo-Sci-Reduzida-Colorida-PNG.png" id="234" name="Google Shape;2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1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Estudos Ecotoxicológicos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AQUÁTICOS E TERRESTRES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37" name="Google Shape;237;p11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11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39" name="Google Shape;239;p11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1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09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02925" y="1600148"/>
            <a:ext cx="5440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4605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Rigor no condicionamento das espécies conforme cada guia de teste.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4605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Cuidados particulares na condução experimental de cada espécie, incluindo abelhas e condições climáticas.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4605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Análises das soluções de trabalho por técnicas sensíveis, como LC/MSMS, reduzindo questionamentos e exigências.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4605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Testes não-BPL na etapa de desenvolvimento de formulação.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/mnt/data/old_pptx_unzip/ppt/media/image40.jpeg" id="242" name="Google Shape;242;p11"/>
          <p:cNvPicPr preferRelativeResize="0"/>
          <p:nvPr/>
        </p:nvPicPr>
        <p:blipFill rotWithShape="1">
          <a:blip r:embed="rId4">
            <a:alphaModFix/>
          </a:blip>
          <a:srcRect b="0" l="14509" r="14509" t="0"/>
          <a:stretch/>
        </p:blipFill>
        <p:spPr>
          <a:xfrm>
            <a:off x="6537960" y="1325880"/>
            <a:ext cx="2423100" cy="192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/mnt/data/old_pptx_unzip/ppt/media/image41.jpeg" id="243" name="Google Shape;243;p11"/>
          <p:cNvPicPr preferRelativeResize="0"/>
          <p:nvPr/>
        </p:nvPicPr>
        <p:blipFill rotWithShape="1">
          <a:blip r:embed="rId5">
            <a:alphaModFix/>
          </a:blip>
          <a:srcRect b="0" l="2679" r="2679" t="0"/>
          <a:stretch/>
        </p:blipFill>
        <p:spPr>
          <a:xfrm>
            <a:off x="9189720" y="1325880"/>
            <a:ext cx="2423100" cy="192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/mnt/data/old_pptx_unzip/ppt/media/image44.jpeg" id="244" name="Google Shape;244;p11"/>
          <p:cNvPicPr preferRelativeResize="0"/>
          <p:nvPr/>
        </p:nvPicPr>
        <p:blipFill rotWithShape="1">
          <a:blip r:embed="rId6">
            <a:alphaModFix/>
          </a:blip>
          <a:srcRect b="14765" l="0" r="0" t="14765"/>
          <a:stretch/>
        </p:blipFill>
        <p:spPr>
          <a:xfrm>
            <a:off x="6537960" y="3520440"/>
            <a:ext cx="5074800" cy="201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5" name="Google Shape;245;p11"/>
          <p:cNvSpPr/>
          <p:nvPr/>
        </p:nvSpPr>
        <p:spPr>
          <a:xfrm>
            <a:off x="503000" y="3520451"/>
            <a:ext cx="5440800" cy="8271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731600" y="3712482"/>
            <a:ext cx="4864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790"/>
              <a:buFont typeface="Sora"/>
              <a:buNone/>
            </a:pPr>
            <a:r>
              <a:rPr b="1" lang="en-US" sz="129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Controle experimental detalhado para respostas biológicas tecnicamente sustentáveis.</a:t>
            </a:r>
            <a:endParaRPr sz="159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A43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Laboratório de Ecotoxicologia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CONDUÇÃO EXPERIMENTAL COM ESPÉCIES SENSÍVEIS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55" name="Google Shape;255;p12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2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57" name="Google Shape;257;p12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12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10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/mnt/data/old_pptx_unzip/ppt/media/image46.JPEG" id="259" name="Google Shape;259;p12"/>
          <p:cNvPicPr preferRelativeResize="0"/>
          <p:nvPr/>
        </p:nvPicPr>
        <p:blipFill rotWithShape="1">
          <a:blip r:embed="rId3">
            <a:alphaModFix/>
          </a:blip>
          <a:srcRect b="0" l="19681" r="19681" t="0"/>
          <a:stretch/>
        </p:blipFill>
        <p:spPr>
          <a:xfrm>
            <a:off x="502935" y="1700725"/>
            <a:ext cx="3474600" cy="4297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0" name="Google Shape;260;p12"/>
          <p:cNvSpPr/>
          <p:nvPr/>
        </p:nvSpPr>
        <p:spPr>
          <a:xfrm>
            <a:off x="7818126" y="1874525"/>
            <a:ext cx="3474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Sora"/>
              <a:buNone/>
            </a:pPr>
            <a:r>
              <a:rPr b="1" lang="en-US" sz="153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Espaços, protocolos e cuidado operacional para estudos ecotoxicológicos com confiabilidade.</a:t>
            </a:r>
            <a:endParaRPr sz="153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7818125" y="3090675"/>
            <a:ext cx="3383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30"/>
              <a:buFont typeface="Sora"/>
              <a:buNone/>
            </a:pPr>
            <a:r>
              <a:rPr lang="en-US" sz="123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Preparação e condicionamento adequados ajudam a proteger a validade do ensaio antes mesmo da primeira leitura.</a:t>
            </a:r>
            <a:endParaRPr sz="123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62" name="Google Shape;262;p12" title="Logo-SCi-Branca-Reduzida-P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2"/>
          <p:cNvPicPr preferRelativeResize="0"/>
          <p:nvPr/>
        </p:nvPicPr>
        <p:blipFill>
          <a:blip r:embed="rId5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2"/>
          <p:cNvPicPr preferRelativeResize="0"/>
          <p:nvPr/>
        </p:nvPicPr>
        <p:blipFill rotWithShape="1">
          <a:blip r:embed="rId6">
            <a:alphaModFix/>
          </a:blip>
          <a:srcRect b="0" l="27607" r="6317" t="0"/>
          <a:stretch/>
        </p:blipFill>
        <p:spPr>
          <a:xfrm>
            <a:off x="4250350" y="1508725"/>
            <a:ext cx="3279300" cy="4489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>
            <a:off x="9966960" y="5212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9F1"/>
              </a:buClr>
              <a:buSzPts val="8200"/>
              <a:buFont typeface="Sora"/>
              <a:buNone/>
            </a:pPr>
            <a:r>
              <a:t/>
            </a:r>
            <a:endParaRPr sz="8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/mnt/data/Logo-Sci-Reduzida-Colorida-PNG.png" id="271" name="Google Shape;2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Estudos de Genotoxicidade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ATENDIMENTO A EXIGÊNCIAS E GUIAS OECD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74" name="Google Shape;274;p13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13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76" name="Google Shape;276;p13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13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11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/mnt/data/old_pptx_unzip/ppt/media/image48.png" id="278" name="Google Shape;278;p13"/>
          <p:cNvPicPr preferRelativeResize="0"/>
          <p:nvPr/>
        </p:nvPicPr>
        <p:blipFill rotWithShape="1">
          <a:blip r:embed="rId4">
            <a:alphaModFix/>
          </a:blip>
          <a:srcRect b="0" l="29453" r="13709" t="0"/>
          <a:stretch/>
        </p:blipFill>
        <p:spPr>
          <a:xfrm>
            <a:off x="7635240" y="1234440"/>
            <a:ext cx="3886200" cy="493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9" name="Google Shape;279;p13"/>
          <p:cNvSpPr/>
          <p:nvPr/>
        </p:nvSpPr>
        <p:spPr>
          <a:xfrm>
            <a:off x="502925" y="1340900"/>
            <a:ext cx="54408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6002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600"/>
              <a:buFont typeface="Sora"/>
              <a:buChar char="•"/>
            </a:pPr>
            <a:r>
              <a:rPr lang="en-US" sz="160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Estudos para atendimento de exigências, incluindo OECD 490 e 476.</a:t>
            </a:r>
            <a:endParaRPr sz="17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6002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600"/>
              <a:buFont typeface="Sora"/>
              <a:buChar char="•"/>
            </a:pPr>
            <a:r>
              <a:rPr lang="en-US" sz="160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Equipamentos modernos e de maior precisão, como citometria de fluxo para estudos de micronúcleo.</a:t>
            </a:r>
            <a:endParaRPr sz="1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02925" y="2963270"/>
            <a:ext cx="5943600" cy="530400"/>
          </a:xfrm>
          <a:prstGeom prst="roundRect">
            <a:avLst>
              <a:gd fmla="val 15517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731525" y="3146093"/>
            <a:ext cx="100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C63F"/>
              </a:buClr>
              <a:buSzPts val="750"/>
              <a:buFont typeface="Sora"/>
              <a:buNone/>
            </a:pPr>
            <a:r>
              <a:rPr b="1" lang="en-US" sz="950">
                <a:solidFill>
                  <a:srgbClr val="8CC63F"/>
                </a:solidFill>
                <a:latin typeface="Sora"/>
                <a:ea typeface="Sora"/>
                <a:cs typeface="Sora"/>
                <a:sym typeface="Sora"/>
              </a:rPr>
              <a:t>OECD 471</a:t>
            </a:r>
            <a:endParaRPr sz="9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1863870" y="3146111"/>
            <a:ext cx="4434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50"/>
              <a:buFont typeface="Sora"/>
              <a:buNone/>
            </a:pPr>
            <a:r>
              <a:rPr b="1" lang="en-US" sz="105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Mutação Reversa Bacteriana (AMES)</a:t>
            </a:r>
            <a:endParaRPr sz="10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502925" y="3676502"/>
            <a:ext cx="5943600" cy="530400"/>
          </a:xfrm>
          <a:prstGeom prst="roundRect">
            <a:avLst>
              <a:gd fmla="val 15517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731525" y="3831950"/>
            <a:ext cx="100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C63F"/>
              </a:buClr>
              <a:buSzPts val="750"/>
              <a:buFont typeface="Sora"/>
              <a:buNone/>
            </a:pPr>
            <a:r>
              <a:rPr b="1" lang="en-US" sz="950">
                <a:solidFill>
                  <a:srgbClr val="8CC63F"/>
                </a:solidFill>
                <a:latin typeface="Sora"/>
                <a:ea typeface="Sora"/>
                <a:cs typeface="Sora"/>
                <a:sym typeface="Sora"/>
              </a:rPr>
              <a:t>OECD 474</a:t>
            </a:r>
            <a:endParaRPr sz="9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1863870" y="3813593"/>
            <a:ext cx="4434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50"/>
              <a:buFont typeface="Sora"/>
              <a:buNone/>
            </a:pPr>
            <a:r>
              <a:rPr b="1" lang="en-US" sz="105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Micronúcleo de eritrócitos de mamíferos in vivo</a:t>
            </a:r>
            <a:endParaRPr sz="10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502925" y="4389734"/>
            <a:ext cx="5943600" cy="530400"/>
          </a:xfrm>
          <a:prstGeom prst="roundRect">
            <a:avLst>
              <a:gd fmla="val 15517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731525" y="4545182"/>
            <a:ext cx="100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C63F"/>
              </a:buClr>
              <a:buSzPts val="750"/>
              <a:buFont typeface="Sora"/>
              <a:buNone/>
            </a:pPr>
            <a:r>
              <a:rPr b="1" lang="en-US" sz="950">
                <a:solidFill>
                  <a:srgbClr val="8CC63F"/>
                </a:solidFill>
                <a:latin typeface="Sora"/>
                <a:ea typeface="Sora"/>
                <a:cs typeface="Sora"/>
                <a:sym typeface="Sora"/>
              </a:rPr>
              <a:t>OECD 487</a:t>
            </a:r>
            <a:endParaRPr sz="9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1863870" y="4526825"/>
            <a:ext cx="4434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50"/>
              <a:buFont typeface="Sora"/>
              <a:buNone/>
            </a:pPr>
            <a:r>
              <a:rPr b="1" lang="en-US" sz="105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Micronúcleo de células de mamíferos in vitro</a:t>
            </a:r>
            <a:endParaRPr sz="10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502925" y="5102966"/>
            <a:ext cx="5943600" cy="530400"/>
          </a:xfrm>
          <a:prstGeom prst="roundRect">
            <a:avLst>
              <a:gd fmla="val 15517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731525" y="5258414"/>
            <a:ext cx="100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C63F"/>
              </a:buClr>
              <a:buSzPts val="750"/>
              <a:buFont typeface="Sora"/>
              <a:buNone/>
            </a:pPr>
            <a:r>
              <a:rPr b="1" lang="en-US" sz="950">
                <a:solidFill>
                  <a:srgbClr val="8CC63F"/>
                </a:solidFill>
                <a:latin typeface="Sora"/>
                <a:ea typeface="Sora"/>
                <a:cs typeface="Sora"/>
                <a:sym typeface="Sora"/>
              </a:rPr>
              <a:t>OECD 476 / 490</a:t>
            </a:r>
            <a:endParaRPr sz="9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1863870" y="5240057"/>
            <a:ext cx="4434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50"/>
              <a:buFont typeface="Sora"/>
              <a:buNone/>
            </a:pPr>
            <a:r>
              <a:rPr b="1" lang="en-US" sz="105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Mutação genética em células de mamíferos in vitro</a:t>
            </a:r>
            <a:endParaRPr sz="10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A43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Laboratório de Genotoxicidade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PRECISÃO EM ESTUDOS CELULARES E MOLECULARES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00" name="Google Shape;300;p14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4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02" name="Google Shape;302;p14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14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12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/mnt/data/old_pptx_unzip/ppt/media/image47.jpeg" id="304" name="Google Shape;304;p14"/>
          <p:cNvPicPr preferRelativeResize="0"/>
          <p:nvPr/>
        </p:nvPicPr>
        <p:blipFill rotWithShape="1">
          <a:blip r:embed="rId3">
            <a:alphaModFix/>
          </a:blip>
          <a:srcRect b="0" l="18941" r="18937" t="0"/>
          <a:stretch/>
        </p:blipFill>
        <p:spPr>
          <a:xfrm>
            <a:off x="502935" y="1641355"/>
            <a:ext cx="3749100" cy="4526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/mnt/data/old_pptx_unzip/ppt/media/image51.jpeg" id="305" name="Google Shape;305;p14"/>
          <p:cNvPicPr preferRelativeResize="0"/>
          <p:nvPr/>
        </p:nvPicPr>
        <p:blipFill rotWithShape="1">
          <a:blip r:embed="rId4">
            <a:alphaModFix/>
          </a:blip>
          <a:srcRect b="0" l="12508" r="12502" t="0"/>
          <a:stretch/>
        </p:blipFill>
        <p:spPr>
          <a:xfrm>
            <a:off x="4553727" y="1641355"/>
            <a:ext cx="2743200" cy="205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/mnt/data/old_pptx_unzip/ppt/media/image49.png" id="306" name="Google Shape;306;p14"/>
          <p:cNvPicPr preferRelativeResize="0"/>
          <p:nvPr/>
        </p:nvPicPr>
        <p:blipFill rotWithShape="1">
          <a:blip r:embed="rId5">
            <a:alphaModFix/>
          </a:blip>
          <a:srcRect b="0" l="2731" r="2731" t="0"/>
          <a:stretch/>
        </p:blipFill>
        <p:spPr>
          <a:xfrm>
            <a:off x="4553727" y="3991363"/>
            <a:ext cx="2743200" cy="2176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7" name="Google Shape;307;p14"/>
          <p:cNvSpPr/>
          <p:nvPr/>
        </p:nvSpPr>
        <p:spPr>
          <a:xfrm>
            <a:off x="8001000" y="2103125"/>
            <a:ext cx="3354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6"/>
              <a:buFont typeface="Sora"/>
              <a:buNone/>
            </a:pPr>
            <a:r>
              <a:rPr b="1" lang="en-US" sz="1556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Ambiente técnico preparado para estudos que exigem repetibilidade, padronização e leitura precisa.</a:t>
            </a:r>
            <a:endParaRPr sz="1556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8001000" y="3337565"/>
            <a:ext cx="3245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20"/>
              <a:buFont typeface="Sora"/>
              <a:buNone/>
            </a:pPr>
            <a:r>
              <a:rPr lang="en-US" sz="12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A combinação de método, instrumentação e equipe reduz a margem de incerteza em avaliações críticas.</a:t>
            </a:r>
            <a:endParaRPr sz="12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09" name="Google Shape;309;p14" title="Logo-SCi-Branca-Reduzida-PN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4"/>
          <p:cNvPicPr preferRelativeResize="0"/>
          <p:nvPr/>
        </p:nvPicPr>
        <p:blipFill>
          <a:blip r:embed="rId7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ogo-Sci-Reduzida-Colorida-PNG.png" id="317" name="Google Shape;3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5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Estudos Toxicológicos in vitro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EXPANSÃO TÉCNICA ALINHADA AO CONCEA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20" name="Google Shape;320;p15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5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22" name="Google Shape;322;p15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5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13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502875" y="1621300"/>
            <a:ext cx="6076500" cy="20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524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40"/>
              <a:buFont typeface="Sora"/>
              <a:buChar char="•"/>
            </a:pPr>
            <a:r>
              <a:rPr lang="en-US" sz="14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Toxicologia in vitro em expansão, com implantação de novos guias de teste conforme reconhecimento do CONCEA.</a:t>
            </a:r>
            <a:endParaRPr sz="14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524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40"/>
              <a:buFont typeface="Sora"/>
              <a:buChar char="•"/>
            </a:pPr>
            <a:r>
              <a:rPr lang="en-US" sz="14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Inclui guias como 492B e 442D.</a:t>
            </a:r>
            <a:endParaRPr sz="14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524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40"/>
              <a:buFont typeface="Sora"/>
              <a:buChar char="•"/>
            </a:pPr>
            <a:r>
              <a:rPr lang="en-US" sz="14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IATA.</a:t>
            </a:r>
            <a:endParaRPr sz="14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524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40"/>
              <a:buFont typeface="Sora"/>
              <a:buChar char="•"/>
            </a:pPr>
            <a:r>
              <a:rPr lang="en-US" sz="14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Sucesso na aceitação dos estudos OECD 490 para fase II de produto técnico.</a:t>
            </a:r>
            <a:endParaRPr sz="14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502863" y="3962132"/>
            <a:ext cx="5989200" cy="7131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715825" y="4132909"/>
            <a:ext cx="5349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943"/>
              <a:buFont typeface="Sora"/>
              <a:buNone/>
            </a:pPr>
            <a:r>
              <a:rPr b="1" lang="en-US" sz="1244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Menos dependência de modelos in vivo, mais velocidade técnica quando o guia permite.</a:t>
            </a:r>
            <a:endParaRPr sz="124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27" name="Google Shape;32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7400" y="1206995"/>
            <a:ext cx="4968000" cy="372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A43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Laboratório de Toxicologia in vitro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NOVOS GUIAS, NOVOS MODELOS, MAIOR EFICIÊNCIA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36" name="Google Shape;336;p16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16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38" name="Google Shape;338;p16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6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14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/mnt/data/old_pptx_unzip/ppt/media/image56.png" id="340" name="Google Shape;340;p16"/>
          <p:cNvPicPr preferRelativeResize="0"/>
          <p:nvPr/>
        </p:nvPicPr>
        <p:blipFill rotWithShape="1">
          <a:blip r:embed="rId4">
            <a:alphaModFix/>
          </a:blip>
          <a:srcRect b="0" l="4077" r="4077" t="0"/>
          <a:stretch/>
        </p:blipFill>
        <p:spPr>
          <a:xfrm>
            <a:off x="502935" y="1655030"/>
            <a:ext cx="3886200" cy="205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/mnt/data/old_pptx_unzip/ppt/media/image54.png" id="341" name="Google Shape;341;p16"/>
          <p:cNvPicPr preferRelativeResize="0"/>
          <p:nvPr/>
        </p:nvPicPr>
        <p:blipFill rotWithShape="1">
          <a:blip r:embed="rId5">
            <a:alphaModFix/>
          </a:blip>
          <a:srcRect b="13147" l="0" r="0" t="13147"/>
          <a:stretch/>
        </p:blipFill>
        <p:spPr>
          <a:xfrm>
            <a:off x="502935" y="4005038"/>
            <a:ext cx="3886200" cy="2148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2" name="Google Shape;342;p16"/>
          <p:cNvSpPr/>
          <p:nvPr/>
        </p:nvSpPr>
        <p:spPr>
          <a:xfrm>
            <a:off x="8138148" y="1965950"/>
            <a:ext cx="3310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2"/>
              <a:buFont typeface="Sora"/>
              <a:buNone/>
            </a:pPr>
            <a:r>
              <a:rPr b="1" lang="en-US" sz="1513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Uma frente em crescimento para estudos mais ágeis, com rigor técnico e alinhamento às boas práticas.</a:t>
            </a:r>
            <a:endParaRPr sz="1513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8138148" y="3401569"/>
            <a:ext cx="3310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10"/>
              <a:buFont typeface="Sora"/>
              <a:buNone/>
            </a:pPr>
            <a:r>
              <a:rPr lang="en-US" sz="101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A expansão do in vitro acompanha a evolução regulatória e a busca por alternativas tecnicamente aceitas.</a:t>
            </a:r>
            <a:endParaRPr sz="101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44" name="Google Shape;344;p16" title="Logo-SCi-Branca-Reduzida-PN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6"/>
          <p:cNvPicPr preferRelativeResize="0"/>
          <p:nvPr/>
        </p:nvPicPr>
        <p:blipFill>
          <a:blip r:embed="rId7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7125" y="1965958"/>
            <a:ext cx="2837449" cy="3783265"/>
          </a:xfrm>
          <a:prstGeom prst="rect">
            <a:avLst/>
          </a:prstGeom>
          <a:solidFill>
            <a:srgbClr val="062A4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ogo-Sci-Reduzida-Colorida-PNG.png" id="353" name="Google Shape;3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7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Estudos Microbiologia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SEGURANÇA MICROBIOLÓGICA DO PRODUTO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56" name="Google Shape;356;p17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17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58" name="Google Shape;358;p17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7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15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502925" y="1582451"/>
            <a:ext cx="58521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524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20"/>
              <a:buFont typeface="Sora"/>
              <a:buChar char="•"/>
            </a:pPr>
            <a:r>
              <a:rPr lang="en-US" sz="14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A SCI-AGRO realiza análises microbiológicas para avaliar a presença e o comportamento de micro-organismos em diferentes matrizes, contribuindo para a qualidade dos produtos e o atendimento às exigências regulatórias. </a:t>
            </a:r>
            <a:endParaRPr sz="14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502900" y="3657105"/>
            <a:ext cx="5852100" cy="786300"/>
          </a:xfrm>
          <a:prstGeom prst="roundRect">
            <a:avLst>
              <a:gd fmla="val 10465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731500" y="3894849"/>
            <a:ext cx="5257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943"/>
              <a:buFont typeface="Sora"/>
              <a:buNone/>
            </a:pPr>
            <a:r>
              <a:rPr b="1" lang="en-US" sz="944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Microbiologia aplicada à segurança e à conformidade </a:t>
            </a:r>
            <a:endParaRPr sz="94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63" name="Google Shape;36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9400" y="841250"/>
            <a:ext cx="3937200" cy="5313900"/>
          </a:xfrm>
          <a:prstGeom prst="roundRect">
            <a:avLst>
              <a:gd fmla="val 16667" name="adj"/>
            </a:avLst>
          </a:prstGeom>
          <a:solidFill>
            <a:srgbClr val="F5F8FB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A43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62A4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502920" y="512064"/>
            <a:ext cx="6583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Laboratório de Microbiologia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502920" y="1005840"/>
            <a:ext cx="6217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CULTIVO, ISOLAMENTO E CONTAGEM SOB CONTROLE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72" name="Google Shape;372;p18"/>
          <p:cNvCxnSpPr/>
          <p:nvPr/>
        </p:nvCxnSpPr>
        <p:spPr>
          <a:xfrm>
            <a:off x="502920" y="1316736"/>
            <a:ext cx="50280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18"/>
          <p:cNvSpPr/>
          <p:nvPr/>
        </p:nvSpPr>
        <p:spPr>
          <a:xfrm>
            <a:off x="347472" y="6492240"/>
            <a:ext cx="2743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74" name="Google Shape;374;p18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18"/>
          <p:cNvSpPr/>
          <p:nvPr/>
        </p:nvSpPr>
        <p:spPr>
          <a:xfrm>
            <a:off x="11283696" y="6473952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16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6754625" y="1555100"/>
            <a:ext cx="5101200" cy="26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-324676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3"/>
              <a:buFont typeface="Sora"/>
              <a:buChar char="●"/>
            </a:pPr>
            <a:r>
              <a:rPr b="1" lang="en-US" sz="1513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Avaliação da presença e do comportamento de micro-organismos em diferentes matrizes;</a:t>
            </a:r>
            <a:endParaRPr b="1" sz="1513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13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4676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3"/>
              <a:buFont typeface="Sora"/>
              <a:buChar char="●"/>
            </a:pPr>
            <a:r>
              <a:rPr b="1" lang="en-US" sz="1513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Ensaios conduzidos para apoiar o controle de qualidade e a segurança dos produtos;</a:t>
            </a:r>
            <a:endParaRPr b="1" sz="1513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13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4676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3"/>
              <a:buFont typeface="Sora"/>
              <a:buChar char="●"/>
            </a:pPr>
            <a:r>
              <a:rPr b="1" lang="en-US" sz="1513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Estrutura preparada para estudos específicos, incluindo o Teste de Ames com Salmonella para avaliação do potencial mutagênico.</a:t>
            </a:r>
            <a:endParaRPr b="1" sz="1513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6923744" y="4059175"/>
            <a:ext cx="43599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10"/>
              <a:buFont typeface="Sora"/>
              <a:buNone/>
            </a:pPr>
            <a:r>
              <a:rPr lang="en-US" sz="101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Dados microbiológicos confiáveis apoiam decisões mais seguras, conformidade regulatória e o desenvolvimento responsável de produtos. </a:t>
            </a:r>
            <a:endParaRPr sz="101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78" name="Google Shape;378;p18" title="Logo-SCi-Branca-Reduzida-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18"/>
          <p:cNvPicPr preferRelativeResize="0"/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18"/>
          <p:cNvPicPr preferRelativeResize="0"/>
          <p:nvPr/>
        </p:nvPicPr>
        <p:blipFill rotWithShape="1">
          <a:blip r:embed="rId5">
            <a:alphaModFix/>
          </a:blip>
          <a:srcRect b="0" l="0" r="0" t="31601"/>
          <a:stretch/>
        </p:blipFill>
        <p:spPr>
          <a:xfrm>
            <a:off x="3963722" y="3661076"/>
            <a:ext cx="2547600" cy="2364900"/>
          </a:xfrm>
          <a:prstGeom prst="roundRect">
            <a:avLst>
              <a:gd fmla="val 16667" name="adj"/>
            </a:avLst>
          </a:prstGeom>
          <a:noFill/>
          <a:ln cap="flat" cmpd="sng" w="7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81" name="Google Shape;38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72863" y="1555107"/>
            <a:ext cx="2529300" cy="1935000"/>
          </a:xfrm>
          <a:prstGeom prst="roundRect">
            <a:avLst>
              <a:gd fmla="val 16667" name="adj"/>
            </a:avLst>
          </a:prstGeom>
          <a:solidFill>
            <a:srgbClr val="062A43"/>
          </a:solidFill>
          <a:ln cap="flat" cmpd="sng" w="96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82" name="Google Shape;382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2925" y="1648775"/>
            <a:ext cx="3217500" cy="4377300"/>
          </a:xfrm>
          <a:prstGeom prst="roundRect">
            <a:avLst>
              <a:gd fmla="val 16667" name="adj"/>
            </a:avLst>
          </a:prstGeom>
          <a:solidFill>
            <a:srgbClr val="062A43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5F8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ogo-Sci-Reduzida-Colorida-PNG.png" id="389" name="Google Shape;3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9"/>
          <p:cNvSpPr/>
          <p:nvPr/>
        </p:nvSpPr>
        <p:spPr>
          <a:xfrm>
            <a:off x="502920" y="512064"/>
            <a:ext cx="6583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Estudos in vivo toxicológicos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502920" y="1005840"/>
            <a:ext cx="6217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CONFIABILIDADE, CONTROLE E RESPONSABILIDADE ÉTICA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92" name="Google Shape;392;p19"/>
          <p:cNvCxnSpPr/>
          <p:nvPr/>
        </p:nvCxnSpPr>
        <p:spPr>
          <a:xfrm>
            <a:off x="502920" y="1316736"/>
            <a:ext cx="50280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19"/>
          <p:cNvSpPr/>
          <p:nvPr/>
        </p:nvSpPr>
        <p:spPr>
          <a:xfrm>
            <a:off x="347472" y="6492240"/>
            <a:ext cx="2743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94" name="Google Shape;394;p19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19"/>
          <p:cNvSpPr/>
          <p:nvPr/>
        </p:nvSpPr>
        <p:spPr>
          <a:xfrm>
            <a:off x="11283696" y="6473952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17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502925" y="1582451"/>
            <a:ext cx="58521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524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20"/>
              <a:buFont typeface="Sora"/>
              <a:buChar char="•"/>
            </a:pPr>
            <a:r>
              <a:rPr lang="en-US" sz="14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Redução no número de estudos in vivo: ocular, dérmico e micronúcleo.</a:t>
            </a:r>
            <a:endParaRPr sz="14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524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20"/>
              <a:buFont typeface="Sora"/>
              <a:buChar char="•"/>
            </a:pPr>
            <a:r>
              <a:rPr lang="en-US" sz="14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Biotério moderno, com sistema apropriado de troca de ar e salas limpas, evitando contaminação externa.</a:t>
            </a:r>
            <a:endParaRPr sz="14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524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20"/>
              <a:buFont typeface="Sora"/>
              <a:buChar char="•"/>
            </a:pPr>
            <a:r>
              <a:rPr lang="en-US" sz="14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CEUA SCI-AGRO: testes aprovados e avaliados para reduzir ao máximo o sofrimento dos animais.</a:t>
            </a:r>
            <a:endParaRPr sz="14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524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20"/>
              <a:buFont typeface="Sora"/>
              <a:buChar char="•"/>
            </a:pPr>
            <a:r>
              <a:rPr lang="en-US" sz="14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Registro no CONCEA.</a:t>
            </a:r>
            <a:endParaRPr sz="14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502900" y="3657105"/>
            <a:ext cx="5852100" cy="786300"/>
          </a:xfrm>
          <a:prstGeom prst="roundRect">
            <a:avLst>
              <a:gd fmla="val 10465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731500" y="3894849"/>
            <a:ext cx="5257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943"/>
              <a:buFont typeface="Sora"/>
              <a:buNone/>
            </a:pPr>
            <a:r>
              <a:rPr b="1" lang="en-US" sz="1444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Controle ambiental e responsabilidade ética são parte da confiabilidade do resultado.</a:t>
            </a:r>
            <a:endParaRPr sz="144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99" name="Google Shape;3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2800" y="841251"/>
            <a:ext cx="4050900" cy="5401500"/>
          </a:xfrm>
          <a:prstGeom prst="roundRect">
            <a:avLst>
              <a:gd fmla="val 16667" name="adj"/>
            </a:avLst>
          </a:prstGeom>
          <a:solidFill>
            <a:srgbClr val="F5F8F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A43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Laboratório de Toxicologia in vivo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AMBIENTES CONTROLADOS PARA ESTUDOS CRÍTICOS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08" name="Google Shape;408;p20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20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10" name="Google Shape;410;p20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20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18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8247725" y="1556975"/>
            <a:ext cx="3638100" cy="12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7"/>
              <a:buFont typeface="Sora"/>
              <a:buNone/>
            </a:pPr>
            <a:r>
              <a:rPr b="1" lang="en-US" sz="1758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Salas, biotério e fluxo operacional desenhados para reduzir variáveis externas.</a:t>
            </a:r>
            <a:endParaRPr sz="1758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8247725" y="2761475"/>
            <a:ext cx="33102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20"/>
              <a:buFont typeface="Sora"/>
              <a:buNone/>
            </a:pPr>
            <a:r>
              <a:rPr lang="en-US" sz="10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A rotina combina infraestrutura controlada, aprovação ética e rastreabilidade documental.</a:t>
            </a:r>
            <a:endParaRPr sz="10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14" name="Google Shape;414;p20" title="Logo-SCi-Branca-Reduzida-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0"/>
          <p:cNvPicPr preferRelativeResize="0"/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1925" y="1858551"/>
            <a:ext cx="2618400" cy="3491100"/>
          </a:xfrm>
          <a:prstGeom prst="roundRect">
            <a:avLst>
              <a:gd fmla="val 16667" name="adj"/>
            </a:avLst>
          </a:prstGeom>
          <a:solidFill>
            <a:srgbClr val="062A4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7" name="Google Shape;41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475" y="1858548"/>
            <a:ext cx="4654800" cy="3491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ogo-Sci-Reduzida-Colorida-PNG.png" id="424" name="Google Shape;4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1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Estudos de Resíduos de Pesticidas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FASE ANALÍTICA COM TECNOLOGIA DE PONTA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27" name="Google Shape;427;p21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21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29" name="Google Shape;429;p21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21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19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/mnt/data/old_pptx_unzip/ppt/media/image66.png" id="431" name="Google Shape;431;p21"/>
          <p:cNvPicPr preferRelativeResize="0"/>
          <p:nvPr/>
        </p:nvPicPr>
        <p:blipFill rotWithShape="1">
          <a:blip r:embed="rId4">
            <a:alphaModFix/>
          </a:blip>
          <a:srcRect b="0" l="0" r="31585" t="0"/>
          <a:stretch/>
        </p:blipFill>
        <p:spPr>
          <a:xfrm>
            <a:off x="7543800" y="1143000"/>
            <a:ext cx="3977700" cy="5166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2" name="Google Shape;432;p21"/>
          <p:cNvSpPr/>
          <p:nvPr/>
        </p:nvSpPr>
        <p:spPr>
          <a:xfrm>
            <a:off x="502925" y="1645900"/>
            <a:ext cx="6035100" cy="17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250"/>
              <a:buFont typeface="Sora"/>
              <a:buChar char="•"/>
            </a:pPr>
            <a:r>
              <a:rPr lang="en-US" sz="125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Fase analítica dos estudos de resíduos.</a:t>
            </a:r>
            <a:endParaRPr sz="12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250"/>
              <a:buFont typeface="Sora"/>
              <a:buChar char="•"/>
            </a:pPr>
            <a:r>
              <a:rPr lang="en-US" sz="125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Profissionais experientes em desenvolvimento, validação e condução analítica.</a:t>
            </a:r>
            <a:endParaRPr sz="12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250"/>
              <a:buFont typeface="Sora"/>
              <a:buChar char="•"/>
            </a:pPr>
            <a:r>
              <a:rPr lang="en-US" sz="125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Equipamentos de última geração: cromatografia líquida (LC/MSMS) e cromatografia gasosa (CG/MS).</a:t>
            </a:r>
            <a:endParaRPr sz="12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250"/>
              <a:buFont typeface="Sora"/>
              <a:buChar char="•"/>
            </a:pPr>
            <a:r>
              <a:rPr lang="en-US" sz="125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Possibilidade de atuação como PP ou DE.</a:t>
            </a:r>
            <a:endParaRPr sz="12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502950" y="4162000"/>
            <a:ext cx="6035100" cy="749700"/>
          </a:xfrm>
          <a:prstGeom prst="roundRect">
            <a:avLst>
              <a:gd fmla="val 10976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1"/>
          <p:cNvSpPr/>
          <p:nvPr/>
        </p:nvSpPr>
        <p:spPr>
          <a:xfrm>
            <a:off x="731550" y="4399754"/>
            <a:ext cx="5602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943"/>
              <a:buFont typeface="Sora"/>
              <a:buNone/>
            </a:pPr>
            <a:r>
              <a:rPr b="1" lang="en-US" sz="1044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Precisão analítica para sustentar decisões regulatórias e desenvolvimento de produto.</a:t>
            </a:r>
            <a:endParaRPr sz="104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A43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Laboratório de Resíduo de Pesticidas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INSTRUMENTAÇÃO PARA ANÁLISES SENSÍVEIS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43" name="Google Shape;443;p22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p22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45" name="Google Shape;445;p22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p22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20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/mnt/data/old_pptx_unzip/ppt/media/image68.png" id="447" name="Google Shape;447;p22"/>
          <p:cNvPicPr preferRelativeResize="0"/>
          <p:nvPr/>
        </p:nvPicPr>
        <p:blipFill rotWithShape="1">
          <a:blip r:embed="rId3">
            <a:alphaModFix/>
          </a:blip>
          <a:srcRect b="0" l="25760" r="25755" t="0"/>
          <a:stretch/>
        </p:blipFill>
        <p:spPr>
          <a:xfrm>
            <a:off x="502925" y="1846950"/>
            <a:ext cx="2045400" cy="3164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8" name="Google Shape;448;p22"/>
          <p:cNvSpPr/>
          <p:nvPr/>
        </p:nvSpPr>
        <p:spPr>
          <a:xfrm>
            <a:off x="7801575" y="2011675"/>
            <a:ext cx="3842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11"/>
              <a:buFont typeface="Sora"/>
              <a:buNone/>
            </a:pPr>
            <a:r>
              <a:rPr b="1" lang="en-US" sz="171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Estrutura voltada para leitura sensível, rastreabilidade e robustez dos dados.</a:t>
            </a:r>
            <a:endParaRPr sz="171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7801575" y="3291850"/>
            <a:ext cx="3697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20"/>
              <a:buFont typeface="Sora"/>
              <a:buNone/>
            </a:pPr>
            <a:r>
              <a:rPr lang="en-US" sz="10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Uma etapa-chave para produtos que precisam chegar ao mercado com consistência técnica.</a:t>
            </a:r>
            <a:endParaRPr sz="10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50" name="Google Shape;450;p22" title="Logo-SCi-Branca-Reduzida-P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2"/>
          <p:cNvPicPr preferRelativeResize="0"/>
          <p:nvPr/>
        </p:nvPicPr>
        <p:blipFill>
          <a:blip r:embed="rId5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6900" y="1810350"/>
            <a:ext cx="4316100" cy="3237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5F8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ogo-Sci-Reduzida-Colorida-PNG.png" id="459" name="Google Shape;4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3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Toxicologia Preditiva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IN SILICO - QSAR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62" name="Google Shape;462;p23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23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64" name="Google Shape;464;p23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23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21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/mnt/data/old_pptx_unzip/ppt/media/image73.png" id="466" name="Google Shape;466;p23"/>
          <p:cNvPicPr preferRelativeResize="0"/>
          <p:nvPr/>
        </p:nvPicPr>
        <p:blipFill rotWithShape="1">
          <a:blip r:embed="rId4">
            <a:alphaModFix/>
          </a:blip>
          <a:srcRect b="0" l="1015" r="1015" t="0"/>
          <a:stretch/>
        </p:blipFill>
        <p:spPr>
          <a:xfrm>
            <a:off x="7635240" y="1234440"/>
            <a:ext cx="3749100" cy="2148900"/>
          </a:xfrm>
          <a:prstGeom prst="roundRect">
            <a:avLst>
              <a:gd fmla="val 12991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/mnt/data/old_pptx_unzip/ppt/media/image72.png" id="467" name="Google Shape;467;p23"/>
          <p:cNvPicPr preferRelativeResize="0"/>
          <p:nvPr/>
        </p:nvPicPr>
        <p:blipFill rotWithShape="1">
          <a:blip r:embed="rId5">
            <a:alphaModFix/>
          </a:blip>
          <a:srcRect b="17238" l="0" r="0" t="27829"/>
          <a:stretch/>
        </p:blipFill>
        <p:spPr>
          <a:xfrm>
            <a:off x="7635250" y="3724975"/>
            <a:ext cx="2385900" cy="1965900"/>
          </a:xfrm>
          <a:prstGeom prst="roundRect">
            <a:avLst>
              <a:gd fmla="val 1089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8" name="Google Shape;468;p23"/>
          <p:cNvSpPr/>
          <p:nvPr/>
        </p:nvSpPr>
        <p:spPr>
          <a:xfrm>
            <a:off x="502925" y="1440183"/>
            <a:ext cx="58521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524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80"/>
              <a:buFont typeface="Sora"/>
              <a:buChar char="•"/>
            </a:pPr>
            <a:r>
              <a:rPr lang="en-US" sz="148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Uso de ao menos três softwares.</a:t>
            </a:r>
            <a:endParaRPr sz="148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524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80"/>
              <a:buFont typeface="Sora"/>
              <a:buChar char="•"/>
            </a:pPr>
            <a:r>
              <a:rPr lang="en-US" sz="148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Cruzamento dos dados preditivos com dados de literatura para relatório completo e bem embasado.</a:t>
            </a:r>
            <a:endParaRPr sz="148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524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80"/>
              <a:buFont typeface="Sora"/>
              <a:buChar char="•"/>
            </a:pPr>
            <a:r>
              <a:rPr lang="en-US" sz="148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Aprovação pelos órgãos regulamentadores sem exigências.</a:t>
            </a:r>
            <a:endParaRPr sz="148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502925" y="3944998"/>
            <a:ext cx="5852100" cy="1170300"/>
          </a:xfrm>
          <a:prstGeom prst="roundRect">
            <a:avLst>
              <a:gd fmla="val 7031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3"/>
          <p:cNvSpPr/>
          <p:nvPr/>
        </p:nvSpPr>
        <p:spPr>
          <a:xfrm>
            <a:off x="652642" y="4105650"/>
            <a:ext cx="849000" cy="849000"/>
          </a:xfrm>
          <a:prstGeom prst="ellipse">
            <a:avLst/>
          </a:prstGeom>
          <a:solidFill>
            <a:srgbClr val="EEF7E5"/>
          </a:solidFill>
          <a:ln cap="flat" cmpd="sng" w="12700">
            <a:solidFill>
              <a:srgbClr val="EEF7E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471" name="Google Shape;471;p23"/>
          <p:cNvSpPr/>
          <p:nvPr/>
        </p:nvSpPr>
        <p:spPr>
          <a:xfrm>
            <a:off x="1750038" y="4374744"/>
            <a:ext cx="4434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1100"/>
              <a:buFont typeface="Sora"/>
              <a:buNone/>
            </a:pPr>
            <a:r>
              <a:rPr b="1" lang="en-US" sz="13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Integração entre softwares, literatura e interpretação técnica para reduzir incertezas.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72" name="Google Shape;47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5695" y="4278550"/>
            <a:ext cx="502926" cy="503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A43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4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Compromisso SCI-AGRO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CIÊNCIA APLICADA PARA NOVOS PRODUTOS CHEGAREM AO MERCADO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81" name="Google Shape;481;p24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p24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83" name="Google Shape;483;p24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4" name="Google Shape;484;p24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22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502925" y="1528738"/>
            <a:ext cx="5621100" cy="14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11"/>
              <a:buFont typeface="Sora"/>
              <a:buNone/>
            </a:pPr>
            <a:r>
              <a:rPr lang="en-US" sz="1711">
                <a:solidFill>
                  <a:srgbClr val="FFFFFF"/>
                </a:solidFill>
                <a:latin typeface="Sora Medium"/>
                <a:ea typeface="Sora Medium"/>
                <a:cs typeface="Sora Medium"/>
                <a:sym typeface="Sora Medium"/>
              </a:rPr>
              <a:t>Contribuindo para a chegada de novos e melhores produtos ao mercado, com o compromisso de assegurar a saúde, a segurança humana e a proteção do meio ambiente.</a:t>
            </a:r>
            <a:endParaRPr sz="1711">
              <a:solidFill>
                <a:schemeClr val="dk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cxnSp>
        <p:nvCxnSpPr>
          <p:cNvPr id="486" name="Google Shape;486;p24"/>
          <p:cNvCxnSpPr/>
          <p:nvPr/>
        </p:nvCxnSpPr>
        <p:spPr>
          <a:xfrm>
            <a:off x="502925" y="3156700"/>
            <a:ext cx="685800" cy="0"/>
          </a:xfrm>
          <a:prstGeom prst="straightConnector1">
            <a:avLst/>
          </a:prstGeom>
          <a:noFill/>
          <a:ln cap="flat" cmpd="sng" w="27925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p24"/>
          <p:cNvSpPr/>
          <p:nvPr/>
        </p:nvSpPr>
        <p:spPr>
          <a:xfrm>
            <a:off x="502927" y="3538823"/>
            <a:ext cx="1494300" cy="1088700"/>
          </a:xfrm>
          <a:prstGeom prst="roundRect">
            <a:avLst>
              <a:gd fmla="val 10465" name="adj"/>
            </a:avLst>
          </a:prstGeom>
          <a:solidFill>
            <a:srgbClr val="FFFFFF"/>
          </a:solidFill>
          <a:ln cap="flat" cmpd="sng" w="17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600" lIns="126600" spcFirstLastPara="1" rIns="126600" wrap="square" tIns="12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39"/>
          </a:p>
        </p:txBody>
      </p:sp>
      <p:sp>
        <p:nvSpPr>
          <p:cNvPr id="488" name="Google Shape;488;p24"/>
          <p:cNvSpPr/>
          <p:nvPr/>
        </p:nvSpPr>
        <p:spPr>
          <a:xfrm>
            <a:off x="2465569" y="3538823"/>
            <a:ext cx="1494300" cy="1088700"/>
          </a:xfrm>
          <a:prstGeom prst="roundRect">
            <a:avLst>
              <a:gd fmla="val 10465" name="adj"/>
            </a:avLst>
          </a:prstGeom>
          <a:solidFill>
            <a:srgbClr val="FFFFFF"/>
          </a:solidFill>
          <a:ln cap="flat" cmpd="sng" w="17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600" lIns="126600" spcFirstLastPara="1" rIns="126600" wrap="square" tIns="12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4"/>
          <p:cNvSpPr/>
          <p:nvPr/>
        </p:nvSpPr>
        <p:spPr>
          <a:xfrm>
            <a:off x="4428212" y="3538823"/>
            <a:ext cx="1494300" cy="1088700"/>
          </a:xfrm>
          <a:prstGeom prst="roundRect">
            <a:avLst>
              <a:gd fmla="val 10465" name="adj"/>
            </a:avLst>
          </a:prstGeom>
          <a:solidFill>
            <a:srgbClr val="FFFFFF"/>
          </a:solidFill>
          <a:ln cap="flat" cmpd="sng" w="17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600" lIns="126600" spcFirstLastPara="1" rIns="126600" wrap="square" tIns="12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old_pptx_unzip/ppt/media/image14.png" id="490" name="Google Shape;4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0158" y="3847921"/>
            <a:ext cx="1190247" cy="4707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old_pptx_unzip/ppt/media/image10.png" id="491" name="Google Shape;491;p24"/>
          <p:cNvPicPr preferRelativeResize="0"/>
          <p:nvPr/>
        </p:nvPicPr>
        <p:blipFill rotWithShape="1">
          <a:blip r:embed="rId4">
            <a:alphaModFix/>
          </a:blip>
          <a:srcRect b="0" l="0" r="18262" t="0"/>
          <a:stretch/>
        </p:blipFill>
        <p:spPr>
          <a:xfrm>
            <a:off x="6492240" y="1143000"/>
            <a:ext cx="425196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4"/>
          <p:cNvSpPr/>
          <p:nvPr/>
        </p:nvSpPr>
        <p:spPr>
          <a:xfrm>
            <a:off x="6492240" y="1143000"/>
            <a:ext cx="4251960" cy="2926080"/>
          </a:xfrm>
          <a:prstGeom prst="roundRect">
            <a:avLst>
              <a:gd fmla="val 1875" name="adj"/>
            </a:avLst>
          </a:prstGeom>
          <a:solidFill>
            <a:srgbClr val="FFFFFF">
              <a:alpha val="0"/>
            </a:srgbClr>
          </a:solidFill>
          <a:ln cap="flat" cmpd="sng" w="1395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3" name="Google Shape;493;p24" title="Logo-SCi-Branca-Reduzida-P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4"/>
          <p:cNvPicPr preferRelativeResize="0"/>
          <p:nvPr/>
        </p:nvPicPr>
        <p:blipFill>
          <a:blip r:embed="rId6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4" title="assinatura lahysAtivo 7@4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88454" y="3678103"/>
            <a:ext cx="810394" cy="810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4" title="assinatura lahysAtivo 5@4x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1778" y="3605233"/>
            <a:ext cx="696429" cy="956114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4"/>
          <p:cNvSpPr/>
          <p:nvPr/>
        </p:nvSpPr>
        <p:spPr>
          <a:xfrm>
            <a:off x="521954" y="4844195"/>
            <a:ext cx="1456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62"/>
              <a:buFont typeface="Sora"/>
              <a:buNone/>
            </a:pPr>
            <a:r>
              <a:rPr b="1" lang="en-US" sz="2077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ISO 17025</a:t>
            </a:r>
            <a:endParaRPr sz="2077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2919567" y="4844195"/>
            <a:ext cx="586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62"/>
              <a:buFont typeface="Sora"/>
              <a:buNone/>
            </a:pPr>
            <a:r>
              <a:rPr b="1" lang="en-US" sz="2077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BPL</a:t>
            </a:r>
            <a:endParaRPr sz="2077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4513724" y="4844195"/>
            <a:ext cx="1323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62"/>
              <a:buFont typeface="Sora"/>
              <a:buNone/>
            </a:pPr>
            <a:r>
              <a:rPr b="1" lang="en-US" sz="2077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AAALAC</a:t>
            </a:r>
            <a:endParaRPr sz="2077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ogo-Sci-Reduzida-Colorida-PNG.png" id="505" name="Google Shape;5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25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b="1" lang="en-US" sz="25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Contato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b="1" lang="en-US" sz="1120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FALE COM O NOSSO TIME COMERCIAL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508" name="Google Shape;508;p25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p25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Apresentação Comercial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510" name="Google Shape;510;p25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1" name="Google Shape;511;p25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b="1" lang="en-US" sz="60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23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502913" y="4323733"/>
            <a:ext cx="5989200" cy="96000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1762926" y="4712225"/>
            <a:ext cx="173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1050"/>
              <a:buFont typeface="Sora"/>
              <a:buNone/>
            </a:pPr>
            <a:r>
              <a:rPr b="1" lang="en-US" sz="105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sales</a:t>
            </a:r>
            <a:r>
              <a:rPr b="1" lang="en-US" sz="105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@sci-agro.com</a:t>
            </a:r>
            <a:endParaRPr sz="10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3493813" y="4614125"/>
            <a:ext cx="13800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39"/>
              <a:buFont typeface="Sora"/>
              <a:buNone/>
            </a:pPr>
            <a:r>
              <a:rPr b="1" lang="en-US" sz="8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Tel: (19) 3186-2117</a:t>
            </a:r>
            <a:endParaRPr b="1" sz="840">
              <a:solidFill>
                <a:srgbClr val="102337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39"/>
              <a:buFont typeface="Sora"/>
              <a:buNone/>
            </a:pPr>
            <a:r>
              <a:rPr b="1" lang="en-US" sz="8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C</a:t>
            </a:r>
            <a:r>
              <a:rPr b="1" lang="en-US" sz="8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el.: (19) 99506-0422</a:t>
            </a:r>
            <a:endParaRPr b="1" sz="840">
              <a:solidFill>
                <a:srgbClr val="102337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15" name="Google Shape;515;p25"/>
          <p:cNvGrpSpPr/>
          <p:nvPr/>
        </p:nvGrpSpPr>
        <p:grpSpPr>
          <a:xfrm>
            <a:off x="502913" y="1809120"/>
            <a:ext cx="5989200" cy="1115700"/>
            <a:chOff x="576600" y="2215120"/>
            <a:chExt cx="5989200" cy="1115700"/>
          </a:xfrm>
        </p:grpSpPr>
        <p:sp>
          <p:nvSpPr>
            <p:cNvPr id="516" name="Google Shape;516;p25"/>
            <p:cNvSpPr/>
            <p:nvPr/>
          </p:nvSpPr>
          <p:spPr>
            <a:xfrm>
              <a:off x="576600" y="2215120"/>
              <a:ext cx="5989200" cy="1115700"/>
            </a:xfrm>
            <a:prstGeom prst="roundRect">
              <a:avLst>
                <a:gd fmla="val 7377" name="adj"/>
              </a:avLst>
            </a:prstGeom>
            <a:solidFill>
              <a:srgbClr val="FFFFFF"/>
            </a:solidFill>
            <a:ln cap="flat" cmpd="sng" w="12700">
              <a:solidFill>
                <a:srgbClr val="D9E5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7" name="Google Shape;517;p25"/>
            <p:cNvGrpSpPr/>
            <p:nvPr/>
          </p:nvGrpSpPr>
          <p:grpSpPr>
            <a:xfrm>
              <a:off x="1840346" y="2560120"/>
              <a:ext cx="2238000" cy="425700"/>
              <a:chOff x="1766671" y="1888100"/>
              <a:chExt cx="2238000" cy="425700"/>
            </a:xfrm>
          </p:grpSpPr>
          <p:sp>
            <p:nvSpPr>
              <p:cNvPr id="518" name="Google Shape;518;p25"/>
              <p:cNvSpPr/>
              <p:nvPr/>
            </p:nvSpPr>
            <p:spPr>
              <a:xfrm>
                <a:off x="1766671" y="1888100"/>
                <a:ext cx="2238000" cy="20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75" lIns="375" spcFirstLastPara="1" rIns="375" wrap="square" tIns="3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54A6"/>
                  </a:buClr>
                  <a:buSzPts val="1200"/>
                  <a:buFont typeface="Sora"/>
                  <a:buNone/>
                </a:pPr>
                <a:r>
                  <a:rPr b="1" lang="en-US" sz="1500">
                    <a:solidFill>
                      <a:srgbClr val="0054A6"/>
                    </a:solidFill>
                    <a:latin typeface="Sora"/>
                    <a:ea typeface="Sora"/>
                    <a:cs typeface="Sora"/>
                    <a:sym typeface="Sora"/>
                  </a:rPr>
                  <a:t>Lahys Caetano Tomaz</a:t>
                </a:r>
                <a:endParaRPr sz="15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25"/>
              <p:cNvSpPr/>
              <p:nvPr/>
            </p:nvSpPr>
            <p:spPr>
              <a:xfrm>
                <a:off x="1766671" y="2149100"/>
                <a:ext cx="2069400" cy="16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75" lIns="375" spcFirstLastPara="1" rIns="375" wrap="square" tIns="3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8CC63F"/>
                  </a:buClr>
                  <a:buSzPts val="820"/>
                  <a:buFont typeface="Sora"/>
                  <a:buNone/>
                </a:pPr>
                <a:r>
                  <a:rPr b="1" lang="en-US" sz="1120">
                    <a:solidFill>
                      <a:srgbClr val="8CC63F"/>
                    </a:solidFill>
                    <a:latin typeface="Sora"/>
                    <a:ea typeface="Sora"/>
                    <a:cs typeface="Sora"/>
                    <a:sym typeface="Sora"/>
                  </a:rPr>
                  <a:t>Diretora Comercial</a:t>
                </a:r>
                <a:endParaRPr sz="112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520" name="Google Shape;520;p25"/>
            <p:cNvSpPr/>
            <p:nvPr/>
          </p:nvSpPr>
          <p:spPr>
            <a:xfrm>
              <a:off x="4132576" y="2608420"/>
              <a:ext cx="22380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850"/>
                <a:buFont typeface="Sora"/>
                <a:buNone/>
              </a:pPr>
              <a:r>
                <a:rPr b="1" lang="en-US" sz="1150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lahys.caetano@sci-agro.com</a:t>
              </a:r>
              <a:endParaRPr b="1" sz="115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850"/>
                <a:buFont typeface="Sora"/>
                <a:buNone/>
              </a:pPr>
              <a:r>
                <a:rPr b="1" lang="en-US" sz="1150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Cel. +55 (19) 98196-4544</a:t>
              </a:r>
              <a:endParaRPr b="1" sz="115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pic>
          <p:nvPicPr>
            <p:cNvPr id="521" name="Google Shape;521;p25" title="foto-lahys-boa.png"/>
            <p:cNvPicPr preferRelativeResize="0"/>
            <p:nvPr/>
          </p:nvPicPr>
          <p:blipFill rotWithShape="1">
            <a:blip r:embed="rId4">
              <a:alphaModFix/>
            </a:blip>
            <a:srcRect b="40526" l="16898" r="8758" t="4149"/>
            <a:stretch/>
          </p:blipFill>
          <p:spPr>
            <a:xfrm>
              <a:off x="696225" y="2292970"/>
              <a:ext cx="966300" cy="9600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grpSp>
        <p:nvGrpSpPr>
          <p:cNvPr id="522" name="Google Shape;522;p25"/>
          <p:cNvGrpSpPr/>
          <p:nvPr/>
        </p:nvGrpSpPr>
        <p:grpSpPr>
          <a:xfrm>
            <a:off x="502913" y="3066413"/>
            <a:ext cx="6070598" cy="1115700"/>
            <a:chOff x="576588" y="3472413"/>
            <a:chExt cx="6070598" cy="1115700"/>
          </a:xfrm>
        </p:grpSpPr>
        <p:sp>
          <p:nvSpPr>
            <p:cNvPr id="523" name="Google Shape;523;p25"/>
            <p:cNvSpPr/>
            <p:nvPr/>
          </p:nvSpPr>
          <p:spPr>
            <a:xfrm>
              <a:off x="576588" y="3472413"/>
              <a:ext cx="5989200" cy="1115700"/>
            </a:xfrm>
            <a:prstGeom prst="roundRect">
              <a:avLst>
                <a:gd fmla="val 7377" name="adj"/>
              </a:avLst>
            </a:prstGeom>
            <a:solidFill>
              <a:srgbClr val="FFFFFF"/>
            </a:solidFill>
            <a:ln cap="flat" cmpd="sng" w="12700">
              <a:solidFill>
                <a:srgbClr val="D9E5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4" name="Google Shape;524;p25"/>
            <p:cNvGrpSpPr/>
            <p:nvPr/>
          </p:nvGrpSpPr>
          <p:grpSpPr>
            <a:xfrm>
              <a:off x="1840346" y="3811219"/>
              <a:ext cx="1570800" cy="438088"/>
              <a:chOff x="1766671" y="3136388"/>
              <a:chExt cx="1570800" cy="438088"/>
            </a:xfrm>
          </p:grpSpPr>
          <p:sp>
            <p:nvSpPr>
              <p:cNvPr id="525" name="Google Shape;525;p25"/>
              <p:cNvSpPr/>
              <p:nvPr/>
            </p:nvSpPr>
            <p:spPr>
              <a:xfrm>
                <a:off x="1766671" y="3136388"/>
                <a:ext cx="1570800" cy="20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75" lIns="375" spcFirstLastPara="1" rIns="375" wrap="square" tIns="3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54A6"/>
                  </a:buClr>
                  <a:buSzPts val="1200"/>
                  <a:buFont typeface="Sora"/>
                  <a:buNone/>
                </a:pPr>
                <a:r>
                  <a:rPr b="1" lang="en-US" sz="1500">
                    <a:solidFill>
                      <a:srgbClr val="0054A6"/>
                    </a:solidFill>
                    <a:latin typeface="Sora"/>
                    <a:ea typeface="Sora"/>
                    <a:cs typeface="Sora"/>
                    <a:sym typeface="Sora"/>
                  </a:rPr>
                  <a:t>Ellen Moraes</a:t>
                </a:r>
                <a:endParaRPr sz="15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6" name="Google Shape;526;p25"/>
              <p:cNvSpPr/>
              <p:nvPr/>
            </p:nvSpPr>
            <p:spPr>
              <a:xfrm>
                <a:off x="1775871" y="3391475"/>
                <a:ext cx="1458000" cy="1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75" lIns="375" spcFirstLastPara="1" rIns="375" wrap="square" tIns="3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8CC63F"/>
                  </a:buClr>
                  <a:buSzPts val="820"/>
                  <a:buFont typeface="Sora"/>
                  <a:buNone/>
                </a:pPr>
                <a:r>
                  <a:rPr b="1" lang="en-US" sz="1120">
                    <a:solidFill>
                      <a:srgbClr val="8CC63F"/>
                    </a:solidFill>
                    <a:latin typeface="Sora"/>
                    <a:ea typeface="Sora"/>
                    <a:cs typeface="Sora"/>
                    <a:sym typeface="Sora"/>
                  </a:rPr>
                  <a:t>Gerente Comercial</a:t>
                </a:r>
                <a:endParaRPr sz="112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527" name="Google Shape;527;p25"/>
            <p:cNvSpPr/>
            <p:nvPr/>
          </p:nvSpPr>
          <p:spPr>
            <a:xfrm>
              <a:off x="4132585" y="3879663"/>
              <a:ext cx="25146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850"/>
                <a:buFont typeface="Sora"/>
                <a:buNone/>
              </a:pPr>
              <a:r>
                <a:rPr b="1" lang="en-US" sz="1150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e.moraes</a:t>
              </a:r>
              <a:r>
                <a:rPr b="1" lang="en-US" sz="1150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@sci-agro.com</a:t>
              </a:r>
              <a:endParaRPr b="1" sz="115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850"/>
                <a:buFont typeface="Sora"/>
                <a:buNone/>
              </a:pPr>
              <a:r>
                <a:rPr b="1" lang="en-US" sz="1150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Cel. +55 (19)</a:t>
              </a:r>
              <a:r>
                <a:rPr b="1" lang="en-US" sz="1150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 99946-2639</a:t>
              </a:r>
              <a:endParaRPr b="1" sz="115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pic>
          <p:nvPicPr>
            <p:cNvPr id="528" name="Google Shape;528;p25" title="WhatsApp Image 2026-06-02 at 15.01.49.jpeg"/>
            <p:cNvPicPr preferRelativeResize="0"/>
            <p:nvPr/>
          </p:nvPicPr>
          <p:blipFill rotWithShape="1">
            <a:blip r:embed="rId5">
              <a:alphaModFix/>
            </a:blip>
            <a:srcRect b="10854" l="7187" r="1254" t="4943"/>
            <a:stretch/>
          </p:blipFill>
          <p:spPr>
            <a:xfrm>
              <a:off x="688275" y="3539163"/>
              <a:ext cx="982200" cy="9822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pic>
        <p:nvPicPr>
          <p:cNvPr id="529" name="Google Shape;529;p25"/>
          <p:cNvPicPr preferRelativeResize="0"/>
          <p:nvPr/>
        </p:nvPicPr>
        <p:blipFill rotWithShape="1">
          <a:blip r:embed="rId6">
            <a:alphaModFix/>
          </a:blip>
          <a:srcRect b="10587" l="0" r="21316" t="0"/>
          <a:stretch/>
        </p:blipFill>
        <p:spPr>
          <a:xfrm>
            <a:off x="6720850" y="1486025"/>
            <a:ext cx="5157000" cy="427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/mnt/data/Logo-Sci-Reduzida-Colorida-PNG.png" id="530" name="Google Shape;5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574" y="4544787"/>
            <a:ext cx="1026199" cy="5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5"/>
          <p:cNvSpPr txBox="1"/>
          <p:nvPr/>
        </p:nvSpPr>
        <p:spPr>
          <a:xfrm>
            <a:off x="4839125" y="4582025"/>
            <a:ext cx="1653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LinkedIn: SCI-AGRO</a:t>
            </a:r>
            <a:endParaRPr b="1" sz="840">
              <a:solidFill>
                <a:srgbClr val="102337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Instagram: @sciagrolab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