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COMERCIAL · SANEANTES</a:t>
            </a:r>
          </a:p>
          <a:p>
            <a:r>
              <a:t>Apresentação</a:t>
            </a:r>
          </a:p>
          <a:p>
            <a:r>
              <a:t>SCI-AGRO</a:t>
            </a:r>
          </a:p>
          <a:p/>
          <a:p>
            <a:r>
              <a:t>Seu produto.</a:t>
            </a:r>
          </a:p>
          <a:p>
            <a:r>
              <a:t>Nossa responsabilidade.</a:t>
            </a:r>
          </a:p>
          <a:p/>
          <a:p>
            <a:r>
              <a:t>2026</a:t>
            </a:r>
          </a:p>
          <a:p>
            <a:r>
              <a:t>SCI-AGRO · A GLP LABORATORY</a:t>
            </a:r>
          </a:p>
          <a:p>
            <a:r>
              <a:t>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somos</a:t>
            </a:r>
          </a:p>
          <a:p/>
          <a:p>
            <a:r>
              <a:t>CONHECIMENTO APLICADO AO DESENVOLVIMENTO SEGURO DO SANEANTE</a:t>
            </a:r>
          </a:p>
          <a:p/>
          <a:p>
            <a:r>
              <a:t>BPL desde</a:t>
            </a:r>
          </a:p>
          <a:p>
            <a:r>
              <a:t>março de 2019</a:t>
            </a:r>
          </a:p>
          <a:p>
            <a:r>
              <a:t>Equipe de 140+</a:t>
            </a:r>
          </a:p>
          <a:p>
            <a:r>
              <a:t>especialistas</a:t>
            </a:r>
          </a:p>
          <a:p>
            <a:r>
              <a:t>Nova atuação. Experiência consolidada.</a:t>
            </a:r>
          </a:p>
          <a:p/>
          <a:p>
            <a:r>
              <a:t>Iniciamos nossa atuação com saneantes em 2025, apoiados por toda a experiência, infraestrutura e solidez da SCI-AGRO.</a:t>
            </a:r>
          </a:p>
          <a:p/>
          <a:p>
            <a:r>
              <a:t>SCI-AGRO · COMERCIAL · SANEANTES</a:t>
            </a:r>
          </a:p>
          <a:p>
            <a:r>
              <a:t>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Estrutura</a:t>
            </a:r>
          </a:p>
          <a:p/>
          <a:p>
            <a:r>
              <a:t>INSTALAÇÃO DE TESTE LOCALIZADA EM CHARQUEADA / SP</a:t>
            </a:r>
          </a:p>
          <a:p/>
          <a:p>
            <a:r>
              <a:t>11.000m²</a:t>
            </a:r>
          </a:p>
          <a:p/>
          <a:p>
            <a:r>
              <a:t>de área para suporte aos estudos e rotinas laboratoriais.</a:t>
            </a:r>
          </a:p>
          <a:p/>
          <a:p>
            <a:r>
              <a:t>Expansão contínua</a:t>
            </a:r>
          </a:p>
          <a:p/>
          <a:p>
            <a:r>
              <a:t>Investimento constante em estrutura e tecnologia.</a:t>
            </a:r>
          </a:p>
          <a:p/>
          <a:p>
            <a:r>
              <a:t>Uma estrutura pensada para combinar capacidade operacional, confiabilidade técnica e resposta ágil às demandas do mercado.</a:t>
            </a:r>
          </a:p>
          <a:p/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Qualidade e acompanhamento</a:t>
            </a:r>
          </a:p>
          <a:p/>
          <a:p>
            <a:r>
              <a:t>TRANSPARÊNCIA NA CONDUÇÃO DOS PROJETOS</a:t>
            </a:r>
          </a:p>
          <a:p/>
          <a:p>
            <a:r>
              <a:t>PMO</a:t>
            </a:r>
          </a:p>
          <a:p/>
          <a:p>
            <a:r>
              <a:t>Responsável pelo acompanhamento dos projetos.</a:t>
            </a:r>
          </a:p>
          <a:p/>
          <a:p>
            <a:r>
              <a:t>Portal do cliente</a:t>
            </a:r>
          </a:p>
          <a:p/>
          <a:p>
            <a:r>
              <a:t>Status dos projetos e acesso a relatórios pelo site.</a:t>
            </a:r>
          </a:p>
          <a:p/>
          <a:p>
            <a:r>
              <a:t>Time técnico</a:t>
            </a:r>
          </a:p>
          <a:p/>
          <a:p>
            <a:r>
              <a:t>Profissionais experientes e contato ágil.</a:t>
            </a:r>
          </a:p>
          <a:p/>
          <a:p>
            <a:r>
              <a:t>Idiomas</a:t>
            </a:r>
          </a:p>
          <a:p/>
          <a:p>
            <a:r>
              <a:t>Emissão simultânea quando necessário.</a:t>
            </a:r>
          </a:p>
          <a:p/>
          <a:p>
            <a:r>
              <a:t>Acompanhamento estruturado para reduzir ruído, ganhar previsibilidade e manter o patrocinador sempre próximo da operação.</a:t>
            </a:r>
          </a:p>
          <a:p/>
          <a:p>
            <a:r>
              <a:t>SCI-AGRO · COMERCIAL · SANEANTES</a:t>
            </a:r>
          </a:p>
          <a:p>
            <a:r>
              <a:t>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Nossos serviços</a:t>
            </a:r>
          </a:p>
          <a:p/>
          <a:p>
            <a:r>
              <a:t>ESCOPO TÉCNICO PARA DIFERENTES DEMANDAS REGULATÓRIAS</a:t>
            </a:r>
          </a:p>
          <a:p/>
          <a:p>
            <a:r>
              <a:t>Eficácia</a:t>
            </a:r>
          </a:p>
          <a:p>
            <a:r>
              <a:t>microbiológica</a:t>
            </a:r>
          </a:p>
          <a:p>
            <a:r>
              <a:t>Físico-Químicos</a:t>
            </a:r>
          </a:p>
          <a:p>
            <a:r>
              <a:t>Eficácia</a:t>
            </a:r>
          </a:p>
          <a:p>
            <a:r>
              <a:t>entomológica</a:t>
            </a:r>
          </a:p>
          <a:p>
            <a:r>
              <a:t>Toxicologia</a:t>
            </a:r>
          </a:p>
          <a:p>
            <a:r>
              <a:t>in vivo &amp; in vitro</a:t>
            </a:r>
          </a:p>
          <a:p>
            <a:r>
              <a:t>Genotoxicidade</a:t>
            </a:r>
          </a:p>
          <a:p>
            <a:r>
              <a:t>Ecotoxicologia</a:t>
            </a:r>
          </a:p>
          <a:p>
            <a:r>
              <a:t>Resíduos de Pesticidas</a:t>
            </a:r>
          </a:p>
          <a:p>
            <a:r>
              <a:t>P&amp;D e treinamentos</a:t>
            </a:r>
          </a:p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Estudos de Microbiologia</a:t>
            </a:r>
          </a:p>
          <a:p/>
          <a:p>
            <a:r>
              <a:t>EFICÁCIA DE DESINFETANTES</a:t>
            </a:r>
          </a:p>
          <a:p/>
          <a:p>
            <a:r>
              <a:t>Ensaios microbiológicos para avaliar a eficácia de produtos desinfetantes, com dados confiáveis para estudos, validações e demandas regulatórias.</a:t>
            </a:r>
          </a:p>
          <a:p/>
          <a:p>
            <a:r>
              <a:t>ENSAIOS</a:t>
            </a:r>
          </a:p>
          <a:p/>
          <a:p>
            <a:r>
              <a:t>Eficácia bactericida · diluição de uso (AOAC e INCQS)</a:t>
            </a:r>
          </a:p>
          <a:p>
            <a:r>
              <a:t>Eficácia fungicida</a:t>
            </a:r>
          </a:p>
          <a:p>
            <a:r>
              <a:t>Ensaio quantitativo de eficácia · CEN</a:t>
            </a:r>
          </a:p>
          <a:p>
            <a:r>
              <a:t>Eficácia bacteriostática e fungistática</a:t>
            </a:r>
          </a:p>
          <a:p>
            <a:r>
              <a:t>Contagem total de bactérias</a:t>
            </a:r>
          </a:p>
          <a:p>
            <a:r>
              <a:t>Pesquisa de microrganismos patogênicos</a:t>
            </a:r>
          </a:p>
          <a:p/>
          <a:p>
            <a:r>
              <a:t>Microbiologia aplicada à segurança e à conformidade.</a:t>
            </a:r>
          </a:p>
          <a:p/>
          <a:p>
            <a:r>
              <a:t>LABORATÓRIO DE MICROBIOLOGIA</a:t>
            </a:r>
          </a:p>
          <a:p>
            <a:r>
              <a:t>Estrutura preparada para estudos específicos, incluindo o Teste de Ames com Salmonella.</a:t>
            </a:r>
          </a:p>
          <a:p/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Estudos Físico-Químicos</a:t>
            </a:r>
          </a:p>
          <a:p/>
          <a:p>
            <a:r>
              <a:t>ESCOPO EXTENSO (MAIS DE 63 ESTUDOS) PARA ATENDER OS REQUERIMENTOS DO BRASIL, EUROPA E DEMAIS PAÍSES DA AMÉRICA DO SUL</a:t>
            </a:r>
          </a:p>
          <a:p/>
          <a:p>
            <a:r>
              <a:t>Teor do ingrediente ativo por cromatografia e titulação.</a:t>
            </a:r>
          </a:p>
          <a:p/>
          <a:p>
            <a:r>
              <a:t>Estabilidade acelerada e de longa duração.</a:t>
            </a:r>
          </a:p>
          <a:p/>
          <a:p>
            <a:r>
              <a:t>pH, densidade, viscosidade, características organolépticas, entre outras.</a:t>
            </a:r>
          </a:p>
          <a:p/>
          <a:p>
            <a:r>
              <a:t>Aplicação técnica precisa dos guias: uma camada a menos de incerteza no pacote regulatório.</a:t>
            </a:r>
          </a:p>
          <a:p/>
          <a:p>
            <a:r>
              <a:t>LABORATÓRIO FÍSICO-QUÍMICO</a:t>
            </a:r>
          </a:p>
          <a:p>
            <a:r>
              <a:t>Equipamentos, equipe e método trabalhando como uma única engrenagem técnica.</a:t>
            </a:r>
          </a:p>
          <a:p/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Análises Entomológicas</a:t>
            </a:r>
          </a:p>
          <a:p/>
          <a:p>
            <a:r>
              <a:t>EFICÁCIA DE INSETICIDAS, RODENTICIDAS E MOLUSCICIDAS</a:t>
            </a:r>
          </a:p>
          <a:p/>
          <a:p>
            <a:r>
              <a:t>ENSAIOS</a:t>
            </a:r>
          </a:p>
          <a:p/>
          <a:p>
            <a:r>
              <a:t>Iscas · baraticidas, formicidas, moluscicidas e mosquicidas</a:t>
            </a:r>
          </a:p>
          <a:p>
            <a:r>
              <a:t>Inseticidas de contato · superfícies</a:t>
            </a:r>
          </a:p>
          <a:p>
            <a:r>
              <a:t>Direct spray</a:t>
            </a:r>
          </a:p>
          <a:p>
            <a:r>
              <a:t>Cupinicidas · madeira seca e solo</a:t>
            </a:r>
          </a:p>
          <a:p>
            <a:r>
              <a:t>Aplicação espacial · FOG e UBV</a:t>
            </a:r>
          </a:p>
          <a:p>
            <a:r>
              <a:t>Potência de larvicidas · biológicos e químicos</a:t>
            </a:r>
          </a:p>
          <a:p>
            <a:r>
              <a:t>Rodenticidas</a:t>
            </a:r>
          </a:p>
          <a:p>
            <a:r>
              <a:t>Jardinagem amadora</a:t>
            </a:r>
          </a:p>
          <a:p>
            <a:r>
              <a:t>Mosquitos em tintas imobiliárias</a:t>
            </a:r>
          </a:p>
          <a:p>
            <a:r>
              <a:t>Repelentes cosméticos</a:t>
            </a:r>
          </a:p>
          <a:p>
            <a:r>
              <a:t>Presença de beta-exotoxinas</a:t>
            </a:r>
          </a:p>
          <a:p>
            <a:r>
              <a:t>Resistência a inseticidas em vetores · bioensaio da garrafa (CDC)</a:t>
            </a:r>
          </a:p>
          <a:p/>
          <a:p>
            <a:r>
              <a:t>Estudos customizados conforme a necessidade do cliente — entre outros ensaios específicos.</a:t>
            </a:r>
          </a:p>
          <a:p/>
          <a:p>
            <a:r>
              <a:t>Rasteiros</a:t>
            </a:r>
          </a:p>
          <a:p>
            <a:r>
              <a:t>Baratas, formigas, cupins e moluscos — iscas, contato e aplicação em superfície.</a:t>
            </a:r>
          </a:p>
          <a:p/>
          <a:p>
            <a:r>
              <a:t>Alados e vetores</a:t>
            </a:r>
          </a:p>
          <a:p>
            <a:r>
              <a:t>Mosquitos e larvas — potência de larvicidas, repelentes e resistência em vetores.</a:t>
            </a:r>
          </a:p>
          <a:p/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Estudos Toxicológicos in vitro e in vivo</a:t>
            </a:r>
          </a:p>
          <a:p/>
          <a:p>
            <a:r>
              <a:t>EXPANSÃO TÉCNICA ALINHADA AO CONCEA</a:t>
            </a:r>
          </a:p>
          <a:p/>
          <a:p>
            <a:r>
              <a:t>Irritação / corrosão ocular: Short Time Exposure (STE), BCOP e EpiOcular.</a:t>
            </a:r>
          </a:p>
          <a:p/>
          <a:p>
            <a:r>
              <a:t>Irritação / corrosão cutânea: método de teste de epiderme humana reconstruída.</a:t>
            </a:r>
          </a:p>
          <a:p/>
          <a:p>
            <a:r>
              <a:t>Toxicidade aguda oral e dérmica em ratos.</a:t>
            </a:r>
          </a:p>
          <a:p/>
          <a:p>
            <a:r>
              <a:t>Sensibilização cutânea: In Chemico e In Vitro.</a:t>
            </a:r>
          </a:p>
          <a:p/>
          <a:p>
            <a:r>
              <a:t>Menos dependência de modelos in vivo, mais velocidade técnica quando o guia permite.</a:t>
            </a:r>
          </a:p>
          <a:p/>
          <a:p>
            <a:r>
              <a:t>LABORATÓRIO DE TOXICOLOGIA IN VITRO E IN VIVO</a:t>
            </a:r>
          </a:p>
          <a:p>
            <a:r>
              <a:t>Uma frente em crescimento para estudos mais ágeis, com rigor técnico e alinhamento às boas práticas.</a:t>
            </a:r>
          </a:p>
          <a:p/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Estudos de Genotoxicidade</a:t>
            </a:r>
          </a:p>
          <a:p/>
          <a:p>
            <a:r>
              <a:t>ATENDIMENTO A EXIGÊNCIAS E GUIAS OECD</a:t>
            </a:r>
          </a:p>
          <a:p/>
          <a:p>
            <a:r>
              <a:t>OECD 471</a:t>
            </a:r>
          </a:p>
          <a:p/>
          <a:p>
            <a:r>
              <a:t>Mutação Reversa Bacteriana (AMES)</a:t>
            </a:r>
          </a:p>
          <a:p/>
          <a:p>
            <a:r>
              <a:t>OECD 474</a:t>
            </a:r>
          </a:p>
          <a:p/>
          <a:p>
            <a:r>
              <a:t>Micronúcleo de eritrócitos de mamíferos in vivo</a:t>
            </a:r>
          </a:p>
          <a:p/>
          <a:p>
            <a:r>
              <a:t>OECD 487</a:t>
            </a:r>
          </a:p>
          <a:p/>
          <a:p>
            <a:r>
              <a:t>Micronúcleo de células de mamíferos in vitro</a:t>
            </a:r>
          </a:p>
          <a:p/>
          <a:p>
            <a:r>
              <a:t>OECD 476 / 490</a:t>
            </a:r>
          </a:p>
          <a:p/>
          <a:p>
            <a:r>
              <a:t>Mutação genética em células de mamíferos in vitro</a:t>
            </a:r>
          </a:p>
          <a:p/>
          <a:p>
            <a:r>
              <a:t>Equipamentos de maior precisão, como citometria de fluxo nos estudos de micronúcleo.</a:t>
            </a:r>
          </a:p>
          <a:p/>
          <a:p>
            <a:r>
              <a:t>LABORATÓRIO DE GENOTOXICIDADE</a:t>
            </a:r>
          </a:p>
          <a:p>
            <a:r>
              <a:t>Ambiente técnico preparado para estudos que exigem repetibilidade, padronização e leitura precisa.</a:t>
            </a:r>
          </a:p>
          <a:p/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Estudos Ecotoxicológicos</a:t>
            </a:r>
          </a:p>
          <a:p/>
          <a:p>
            <a:r>
              <a:t>AQUÁTICOS E TERRESTRES</a:t>
            </a:r>
          </a:p>
          <a:p/>
          <a:p>
            <a:r>
              <a:t>TESTES COMO</a:t>
            </a:r>
          </a:p>
          <a:p/>
          <a:p>
            <a:r>
              <a:t>Microrganismos do solo · ciclo do nitrogênio</a:t>
            </a:r>
          </a:p>
          <a:p>
            <a:r>
              <a:t>Microrganismos do solo · ciclo do carbono</a:t>
            </a:r>
          </a:p>
          <a:p>
            <a:r>
              <a:t>Abelhas e larvas · oral e contato, agudo e crônico</a:t>
            </a:r>
          </a:p>
          <a:p>
            <a:r>
              <a:t>Aves · oral aguda</a:t>
            </a:r>
          </a:p>
          <a:p>
            <a:r>
              <a:t>Aves · dieta</a:t>
            </a:r>
          </a:p>
          <a:p>
            <a:r>
              <a:t>Biodegradabilidade em solos</a:t>
            </a:r>
          </a:p>
          <a:p>
            <a:r>
              <a:t>Minhocas · agudo e crônico</a:t>
            </a:r>
          </a:p>
          <a:p>
            <a:r>
              <a:t>Algas · inibição de crescimento</a:t>
            </a:r>
          </a:p>
          <a:p>
            <a:r>
              <a:t>Peixes · agudo e crônico</a:t>
            </a:r>
          </a:p>
          <a:p>
            <a:r>
              <a:t>Microcrustáceos · agudo e crônico</a:t>
            </a:r>
          </a:p>
          <a:p/>
          <a:p>
            <a:r>
              <a:t>LABORATÓRIO DE ECOTOXICOLOGIA</a:t>
            </a:r>
          </a:p>
          <a:p>
            <a:r>
              <a:t>Espaços, protocolos e cuidado operacional para estudos ecotoxicológicos com confiabilidade.</a:t>
            </a:r>
          </a:p>
          <a:p/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Estudos de Resíduos de Pesticidas</a:t>
            </a:r>
          </a:p>
          <a:p/>
          <a:p>
            <a:r>
              <a:t>FASE ANALÍTICA COM TECNOLOGIA DE PONTA</a:t>
            </a:r>
          </a:p>
          <a:p/>
          <a:p>
            <a:r>
              <a:t>Profissionais experientes em desenvolvimento, validação e condução analítica.</a:t>
            </a:r>
          </a:p>
          <a:p/>
          <a:p>
            <a:r>
              <a:t>Equipamentos de última geração: cromatografia líquida (LC/MSMS) e gasosa (CG/MS).</a:t>
            </a:r>
          </a:p>
          <a:p/>
          <a:p>
            <a:r>
              <a:t>Possibilidade de atuação como PP ou DE.</a:t>
            </a:r>
          </a:p>
          <a:p/>
          <a:p>
            <a:r>
              <a:t>Precisão analítica para sustentar decisões regulatórias e desenvolvimento de produto.</a:t>
            </a:r>
          </a:p>
          <a:p/>
          <a:p>
            <a:r>
              <a:t>LABORATÓRIO DE RESÍDUO DE PESTICIDAS</a:t>
            </a:r>
          </a:p>
          <a:p>
            <a:r>
              <a:t>Estrutura voltada para leitura sensível, rastreabilidade e robustez dos dados.</a:t>
            </a:r>
          </a:p>
          <a:p/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Compromisso SCI-AGRO</a:t>
            </a:r>
          </a:p>
          <a:p/>
          <a:p>
            <a:r>
              <a:t>CIÊNCIA APLICADA PARA NOVOS PRODUTOS CHEGAREM AO MERCADO</a:t>
            </a:r>
          </a:p>
          <a:p/>
          <a:p>
            <a:r>
              <a:t>Contribuindo para a chegada de novos e melhores produtos ao mercado, com o compromisso de assegurar a saúde, a segurança humana e a proteção do meio ambiente.</a:t>
            </a:r>
          </a:p>
          <a:p/>
          <a:p>
            <a:r>
              <a:t>ISO 17025</a:t>
            </a:r>
          </a:p>
          <a:p>
            <a:r>
              <a:t>BPL</a:t>
            </a:r>
          </a:p>
          <a:p>
            <a:r>
              <a:t>AAALAC</a:t>
            </a:r>
          </a:p>
          <a:p>
            <a:r>
              <a:t>2026</a:t>
            </a:r>
          </a:p>
          <a:p>
            <a:r>
              <a:t>SCI-AGRO · COMERCIAL · SANEANTES</a:t>
            </a:r>
          </a:p>
          <a:p>
            <a:r>
              <a:t>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Contato</a:t>
            </a:r>
          </a:p>
          <a:p/>
          <a:p>
            <a:r>
              <a:t>FALE COM O NOSSO TIME COMERCIAL</a:t>
            </a:r>
          </a:p>
          <a:p/>
          <a:p>
            <a:r>
              <a:t>Ellen Moraes</a:t>
            </a:r>
          </a:p>
          <a:p/>
          <a:p>
            <a:r>
              <a:t>Gerente Comercial</a:t>
            </a:r>
          </a:p>
          <a:p/>
          <a:p>
            <a:r>
              <a:t>e.moraes@sci-agro.com</a:t>
            </a:r>
          </a:p>
          <a:p>
            <a:r>
              <a:t>Cel. +55 (19) 99946-2639</a:t>
            </a:r>
          </a:p>
          <a:p/>
          <a:p>
            <a:r>
              <a:t>Amanda Augusto</a:t>
            </a:r>
          </a:p>
          <a:p/>
          <a:p>
            <a:r>
              <a:t>Analista Comercial</a:t>
            </a:r>
          </a:p>
          <a:p/>
          <a:p>
            <a:r>
              <a:t>a.augusto@sci-agro.com</a:t>
            </a:r>
          </a:p>
          <a:p>
            <a:r>
              <a:t>Cel. +55 (19) 99809-1748</a:t>
            </a:r>
          </a:p>
          <a:p/>
          <a:p>
            <a:r>
              <a:t>Fabio Severino</a:t>
            </a:r>
          </a:p>
          <a:p/>
          <a:p>
            <a:r>
              <a:t>Analista Comercial</a:t>
            </a:r>
          </a:p>
          <a:p/>
          <a:p>
            <a:r>
              <a:t>fabio.severino@sci-agro.com</a:t>
            </a:r>
          </a:p>
          <a:p>
            <a:r>
              <a:t>Cel. +55 (19) 99627-6789</a:t>
            </a:r>
          </a:p>
          <a:p>
            <a:r>
              <a:t>sales@sci-agro.com</a:t>
            </a:r>
          </a:p>
          <a:p>
            <a:r>
              <a:t>Tel: (19) 3186-2117</a:t>
            </a:r>
          </a:p>
          <a:p>
            <a:r>
              <a:t>Cel.: (19) 99506-0422</a:t>
            </a:r>
          </a:p>
          <a:p>
            <a:r>
              <a:t>LinkedIn: SCI-AGRO</a:t>
            </a:r>
          </a:p>
          <a:p>
            <a:r>
              <a:t>Instagram: @sciagrolab</a:t>
            </a:r>
          </a:p>
          <a:p>
            <a:r>
              <a:t>SCI-AGRO · COMERCIAL · SANEANTES</a:t>
            </a:r>
          </a:p>
          <a:p>
            <a:r>
              <a:t>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Apresentação Comercial · Saneantes 2026</a:t>
            </a:r>
          </a:p>
        </p:txBody>
      </p:sp>
      <p:pic>
        <p:nvPicPr>
          <p:cNvPr id="3" name="Slide 1" descr="Slide 1 — Apresentação Comercial · Saneantes 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Quem somos</a:t>
            </a:r>
          </a:p>
        </p:txBody>
      </p:sp>
      <p:pic>
        <p:nvPicPr>
          <p:cNvPr id="3" name="Slide 2" descr="Slide 2 — Quem som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</a:t>
            </a:r>
          </a:p>
        </p:txBody>
      </p:sp>
      <p:pic>
        <p:nvPicPr>
          <p:cNvPr id="3" name="Slide 3" descr="Slide 3 — Estrutur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Qualidade e acompanhamento</a:t>
            </a:r>
          </a:p>
        </p:txBody>
      </p:sp>
      <p:pic>
        <p:nvPicPr>
          <p:cNvPr id="3" name="Slide 4" descr="Slide 4 — Qualidade e acompanhamen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Nossos serviços</a:t>
            </a:r>
          </a:p>
        </p:txBody>
      </p:sp>
      <p:pic>
        <p:nvPicPr>
          <p:cNvPr id="3" name="Slide 5" descr="Slide 5 — Nossos serviç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Estudos de Microbiologia</a:t>
            </a:r>
          </a:p>
        </p:txBody>
      </p:sp>
      <p:pic>
        <p:nvPicPr>
          <p:cNvPr id="3" name="Slide 6" descr="Slide 6 — Estudos de Microbiolog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Estudos Físico-Químicos</a:t>
            </a:r>
          </a:p>
        </p:txBody>
      </p:sp>
      <p:pic>
        <p:nvPicPr>
          <p:cNvPr id="3" name="Slide 7" descr="Slide 7 — Estudos Físico-Químic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Análises Entomológicas</a:t>
            </a:r>
          </a:p>
        </p:txBody>
      </p:sp>
      <p:pic>
        <p:nvPicPr>
          <p:cNvPr id="3" name="Slide 8" descr="Slide 8 — Análises Entomológic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Estudos Toxicológicos in vitro e in vivo</a:t>
            </a:r>
          </a:p>
        </p:txBody>
      </p:sp>
      <p:pic>
        <p:nvPicPr>
          <p:cNvPr id="3" name="Slide 9" descr="Slide 9 — Estudos Toxicológicos in vitro e in viv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Estudos de Genotoxicidade</a:t>
            </a:r>
          </a:p>
        </p:txBody>
      </p:sp>
      <p:pic>
        <p:nvPicPr>
          <p:cNvPr id="3" name="Slide 10" descr="Slide 10 — Estudos de Genotoxicid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Estudos Ecotoxicológicos</a:t>
            </a:r>
          </a:p>
        </p:txBody>
      </p:sp>
      <p:pic>
        <p:nvPicPr>
          <p:cNvPr id="3" name="Slide 11" descr="Slide 11 — Estudos Ecotoxicológic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Estudos de Resíduos de Pesticidas</a:t>
            </a:r>
          </a:p>
        </p:txBody>
      </p:sp>
      <p:pic>
        <p:nvPicPr>
          <p:cNvPr id="3" name="Slide 12" descr="Slide 12 — Estudos de Resíduos de Pesticid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Compromisso SCI-AGRO</a:t>
            </a:r>
          </a:p>
        </p:txBody>
      </p:sp>
      <p:pic>
        <p:nvPicPr>
          <p:cNvPr id="3" name="Slide 13" descr="Slide 13 — Compromisso SCI-AG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Contato</a:t>
            </a:r>
          </a:p>
        </p:txBody>
      </p:sp>
      <p:pic>
        <p:nvPicPr>
          <p:cNvPr id="3" name="Slide 14" descr="Slide 14 — Cont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Comercial Saneantes 2026 — SCI-AGRO</dc:title>
  <dc:subject>Saneantes — escopo de estudos e estrutura técnica</dc:subject>
  <dc:creator>SCI-AGRO</dc:creator>
  <cp:keywords/>
  <dc:description>Cada slide é a imagem em alta da apresentação original em HTML. O texto de cada slide está nas notas do apresentador.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